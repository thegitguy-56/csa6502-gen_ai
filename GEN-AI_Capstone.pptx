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custom-properties+xml" PartName="/docProps/custom.xml"/>
  <Override ContentType="application/binary" PartName="/ppt/metadata"/>
  <Override ContentType="application/vnd.openxmlformats-officedocument.presentationml.notesMaster+xml" PartName="/ppt/notesMasters/notesMaster1.xml"/>
  <Override ContentType="application/vnd.openxmlformats-officedocument.presentationml.presProps+xml" PartName="/ppt/presProps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custom-properties" Target="docProps/custom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5"/>
    <p:sldMasterId id="2147483655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y="6858000" cx="12192000"/>
  <p:notesSz cx="12192000" cy="6858000"/>
  <p:embeddedFontLst>
    <p:embeddedFont>
      <p:font typeface="Helvetica Neue"/>
      <p:regular r:id="rId24"/>
      <p:bold r:id="rId25"/>
      <p:italic r:id="rId26"/>
      <p:boldItalic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  <p:ext uri="GoogleSlidesCustomDataVersion2">
      <go:slidesCustomData xmlns:go="http://customooxmlschemas.google.com/" r:id="rId28" roundtripDataSignature="AMtx7mjPxQB9pGFFs+2e4ausla/WxVA6H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6A0750D6-3A62-4C8A-8B76-66FF32D235F1}">
  <a:tblStyle styleId="{6A0750D6-3A62-4C8A-8B76-66FF32D235F1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8F1F5"/>
          </a:solidFill>
        </a:fill>
      </a:tcStyle>
    </a:wholeTbl>
    <a:band1H>
      <a:tcTxStyle b="off" i="off"/>
      <a:tcStyle>
        <a:fill>
          <a:solidFill>
            <a:srgbClr val="CEE2EA"/>
          </a:solidFill>
        </a:fill>
      </a:tcStyle>
    </a:band1H>
    <a:band2H>
      <a:tcTxStyle b="off" i="off"/>
    </a:band2H>
    <a:band1V>
      <a:tcTxStyle b="off" i="off"/>
      <a:tcStyle>
        <a:fill>
          <a:solidFill>
            <a:srgbClr val="CEE2EA"/>
          </a:solidFill>
        </a:fill>
      </a:tcStyle>
    </a:band1V>
    <a:band2V>
      <a:tcTxStyle b="off" i="off"/>
    </a:band2V>
    <a:lastCol>
      <a:tcTxStyle b="on" i="off"/>
    </a:lastCol>
    <a:firstCol>
      <a:tcTxStyle b="on" i="off"/>
    </a:firstCol>
    <a:lastRow>
      <a:tcTxStyle b="on" i="off"/>
      <a:tcStyle>
        <a:tcBdr>
          <a:top>
            <a:ln cap="flat" cmpd="sng" w="254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rgbClr val="E8F1F5"/>
          </a:solidFill>
        </a:fill>
      </a:tcStyle>
    </a:lastRow>
    <a:seCell>
      <a:tcTxStyle b="off" i="off"/>
    </a:seCell>
    <a:swCell>
      <a:tcTxStyle b="off" i="off"/>
    </a:swCell>
    <a:firstRow>
      <a:tcTxStyle b="on" i="off"/>
      <a:tcStyle>
        <a:fill>
          <a:solidFill>
            <a:srgbClr val="E8F1F5"/>
          </a:solidFill>
        </a:fill>
      </a:tcStyle>
    </a:firstRow>
    <a:neCell>
      <a:tcTxStyle b="off" i="off"/>
    </a:neCell>
    <a:nwCell>
      <a:tcTxStyle b="off" i="off"/>
    </a:nwCell>
  </a:tblStyle>
  <a:tblStyle styleId="{760D0122-9385-417B-9779-1DF5733CE175}" styleName="Table_1">
    <a:wholeTbl>
      <a:tcTxStyle b="off" i="off">
        <a:font>
          <a:latin typeface="Arial"/>
          <a:ea typeface="Arial"/>
          <a:cs typeface="Arial"/>
        </a:font>
        <a:srgbClr val="000000"/>
      </a:tcTx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0" orient="horz"/>
        <p:guide pos="216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3.xml"/><Relationship Id="rId22" Type="http://schemas.openxmlformats.org/officeDocument/2006/relationships/slide" Target="slides/slide15.xml"/><Relationship Id="rId21" Type="http://schemas.openxmlformats.org/officeDocument/2006/relationships/slide" Target="slides/slide14.xml"/><Relationship Id="rId24" Type="http://schemas.openxmlformats.org/officeDocument/2006/relationships/font" Target="fonts/HelveticaNeue-regular.fntdata"/><Relationship Id="rId23" Type="http://schemas.openxmlformats.org/officeDocument/2006/relationships/slide" Target="slides/slide16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2.xml"/><Relationship Id="rId26" Type="http://schemas.openxmlformats.org/officeDocument/2006/relationships/font" Target="fonts/HelveticaNeue-italic.fntdata"/><Relationship Id="rId25" Type="http://schemas.openxmlformats.org/officeDocument/2006/relationships/font" Target="fonts/HelveticaNeue-bold.fntdata"/><Relationship Id="rId28" Type="http://customschemas.google.com/relationships/presentationmetadata" Target="metadata"/><Relationship Id="rId27" Type="http://schemas.openxmlformats.org/officeDocument/2006/relationships/font" Target="fonts/HelveticaNeue-boldItalic.fntdata"/><Relationship Id="rId5" Type="http://schemas.openxmlformats.org/officeDocument/2006/relationships/slideMaster" Target="slideMasters/slideMaster1.xml"/><Relationship Id="rId6" Type="http://schemas.openxmlformats.org/officeDocument/2006/relationships/slideMaster" Target="slideMasters/slideMaster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11" Type="http://schemas.openxmlformats.org/officeDocument/2006/relationships/slide" Target="slides/slide4.xml"/><Relationship Id="rId10" Type="http://schemas.openxmlformats.org/officeDocument/2006/relationships/slide" Target="slides/slide3.xml"/><Relationship Id="rId13" Type="http://schemas.openxmlformats.org/officeDocument/2006/relationships/slide" Target="slides/slide6.xml"/><Relationship Id="rId12" Type="http://schemas.openxmlformats.org/officeDocument/2006/relationships/slide" Target="slides/slide5.xml"/><Relationship Id="rId15" Type="http://schemas.openxmlformats.org/officeDocument/2006/relationships/slide" Target="slides/slide8.xml"/><Relationship Id="rId14" Type="http://schemas.openxmlformats.org/officeDocument/2006/relationships/slide" Target="slides/slide7.xml"/><Relationship Id="rId17" Type="http://schemas.openxmlformats.org/officeDocument/2006/relationships/slide" Target="slides/slide10.xml"/><Relationship Id="rId16" Type="http://schemas.openxmlformats.org/officeDocument/2006/relationships/slide" Target="slides/slide9.xml"/><Relationship Id="rId19" Type="http://schemas.openxmlformats.org/officeDocument/2006/relationships/slide" Target="slides/slide12.xml"/><Relationship Id="rId18" Type="http://schemas.openxmlformats.org/officeDocument/2006/relationships/slide" Target="slides/slide1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5283200" cy="3444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6905625" y="0"/>
            <a:ext cx="5283200" cy="3444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4038600" y="857250"/>
            <a:ext cx="41148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6513513"/>
            <a:ext cx="5283200" cy="3444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g3f86946267d_2_0:notes"/>
          <p:cNvSpPr/>
          <p:nvPr>
            <p:ph idx="2" type="sldImg"/>
          </p:nvPr>
        </p:nvSpPr>
        <p:spPr>
          <a:xfrm>
            <a:off x="4038600" y="857250"/>
            <a:ext cx="41148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5" name="Google Shape;85;g3f86946267d_2_0:notes"/>
          <p:cNvSpPr txBox="1"/>
          <p:nvPr>
            <p:ph idx="1" type="body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86" name="Google Shape;86;g3f86946267d_2_0:notes"/>
          <p:cNvSpPr txBox="1"/>
          <p:nvPr>
            <p:ph idx="12" type="sldNum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86946267d_2_13:notes"/>
          <p:cNvSpPr txBox="1"/>
          <p:nvPr>
            <p:ph idx="1" type="body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" name="Google Shape;98;g3f86946267d_2_13:notes"/>
          <p:cNvSpPr/>
          <p:nvPr>
            <p:ph idx="2" type="sldImg"/>
          </p:nvPr>
        </p:nvSpPr>
        <p:spPr>
          <a:xfrm>
            <a:off x="4038600" y="857250"/>
            <a:ext cx="41148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3f86946267d_2_22:notes"/>
          <p:cNvSpPr txBox="1"/>
          <p:nvPr>
            <p:ph idx="1" type="body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07" name="Google Shape;107;g3f86946267d_2_22:notes"/>
          <p:cNvSpPr/>
          <p:nvPr>
            <p:ph idx="2" type="sldImg"/>
          </p:nvPr>
        </p:nvSpPr>
        <p:spPr>
          <a:xfrm>
            <a:off x="4038600" y="857250"/>
            <a:ext cx="41148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g3f86946267d_2_31:notes"/>
          <p:cNvSpPr txBox="1"/>
          <p:nvPr>
            <p:ph idx="1" type="body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17" name="Google Shape;117;g3f86946267d_2_31:notes"/>
          <p:cNvSpPr/>
          <p:nvPr>
            <p:ph idx="2" type="sldImg"/>
          </p:nvPr>
        </p:nvSpPr>
        <p:spPr>
          <a:xfrm>
            <a:off x="4038600" y="857250"/>
            <a:ext cx="41148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f86946267d_2_39:notes"/>
          <p:cNvSpPr txBox="1"/>
          <p:nvPr>
            <p:ph idx="1" type="body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26" name="Google Shape;126;g3f86946267d_2_39:notes"/>
          <p:cNvSpPr/>
          <p:nvPr>
            <p:ph idx="2" type="sldImg"/>
          </p:nvPr>
        </p:nvSpPr>
        <p:spPr>
          <a:xfrm>
            <a:off x="4038600" y="857250"/>
            <a:ext cx="41148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3f86946267d_2_46:notes"/>
          <p:cNvSpPr txBox="1"/>
          <p:nvPr>
            <p:ph idx="1" type="body"/>
          </p:nvPr>
        </p:nvSpPr>
        <p:spPr>
          <a:xfrm>
            <a:off x="1219200" y="3300413"/>
            <a:ext cx="9753600" cy="27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34" name="Google Shape;134;g3f86946267d_2_46:notes"/>
          <p:cNvSpPr/>
          <p:nvPr>
            <p:ph idx="2" type="sldImg"/>
          </p:nvPr>
        </p:nvSpPr>
        <p:spPr>
          <a:xfrm>
            <a:off x="4038600" y="857250"/>
            <a:ext cx="41148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g3f86946267d_2_55:notes"/>
          <p:cNvSpPr txBox="1"/>
          <p:nvPr>
            <p:ph idx="1" type="body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44" name="Google Shape;144;g3f86946267d_2_55:notes"/>
          <p:cNvSpPr/>
          <p:nvPr>
            <p:ph idx="2" type="sldImg"/>
          </p:nvPr>
        </p:nvSpPr>
        <p:spPr>
          <a:xfrm>
            <a:off x="4038600" y="857250"/>
            <a:ext cx="41148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3f86946267d_2_63:notes"/>
          <p:cNvSpPr txBox="1"/>
          <p:nvPr>
            <p:ph idx="1" type="body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53" name="Google Shape;153;g3f86946267d_2_63:notes"/>
          <p:cNvSpPr/>
          <p:nvPr>
            <p:ph idx="2" type="sldImg"/>
          </p:nvPr>
        </p:nvSpPr>
        <p:spPr>
          <a:xfrm>
            <a:off x="4038600" y="857250"/>
            <a:ext cx="41148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g3f86946267d_2_72:notes"/>
          <p:cNvSpPr txBox="1"/>
          <p:nvPr>
            <p:ph idx="1" type="body"/>
          </p:nvPr>
        </p:nvSpPr>
        <p:spPr>
          <a:xfrm>
            <a:off x="1219200" y="3300413"/>
            <a:ext cx="9753600" cy="27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63" name="Google Shape;163;g3f86946267d_2_72:notes"/>
          <p:cNvSpPr/>
          <p:nvPr>
            <p:ph idx="2" type="sldImg"/>
          </p:nvPr>
        </p:nvSpPr>
        <p:spPr>
          <a:xfrm>
            <a:off x="4038600" y="857250"/>
            <a:ext cx="41148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g3f86946267d_2_81:notes"/>
          <p:cNvSpPr txBox="1"/>
          <p:nvPr>
            <p:ph idx="1" type="body"/>
          </p:nvPr>
        </p:nvSpPr>
        <p:spPr>
          <a:xfrm>
            <a:off x="1219200" y="3300413"/>
            <a:ext cx="9753600" cy="27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73" name="Google Shape;173;g3f86946267d_2_81:notes"/>
          <p:cNvSpPr/>
          <p:nvPr>
            <p:ph idx="2" type="sldImg"/>
          </p:nvPr>
        </p:nvSpPr>
        <p:spPr>
          <a:xfrm>
            <a:off x="4038600" y="857250"/>
            <a:ext cx="41148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g3f86946267d_2_90:notes"/>
          <p:cNvSpPr txBox="1"/>
          <p:nvPr>
            <p:ph idx="1" type="body"/>
          </p:nvPr>
        </p:nvSpPr>
        <p:spPr>
          <a:xfrm>
            <a:off x="1219200" y="3300413"/>
            <a:ext cx="9753600" cy="27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83" name="Google Shape;183;g3f86946267d_2_90:notes"/>
          <p:cNvSpPr/>
          <p:nvPr>
            <p:ph idx="2" type="sldImg"/>
          </p:nvPr>
        </p:nvSpPr>
        <p:spPr>
          <a:xfrm>
            <a:off x="4038600" y="857250"/>
            <a:ext cx="41148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3f9b3160951_0_1:notes"/>
          <p:cNvSpPr txBox="1"/>
          <p:nvPr>
            <p:ph idx="1" type="body"/>
          </p:nvPr>
        </p:nvSpPr>
        <p:spPr>
          <a:xfrm>
            <a:off x="1219200" y="3300413"/>
            <a:ext cx="9753600" cy="27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93" name="Google Shape;193;g3f9b3160951_0_1:notes"/>
          <p:cNvSpPr/>
          <p:nvPr>
            <p:ph idx="2" type="sldImg"/>
          </p:nvPr>
        </p:nvSpPr>
        <p:spPr>
          <a:xfrm>
            <a:off x="4038600" y="857250"/>
            <a:ext cx="41148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g3be5054b97e_3_206:notes"/>
          <p:cNvSpPr txBox="1"/>
          <p:nvPr>
            <p:ph idx="1" type="body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01" name="Google Shape;201;g3be5054b97e_3_206:notes"/>
          <p:cNvSpPr/>
          <p:nvPr>
            <p:ph idx="2" type="sldImg"/>
          </p:nvPr>
        </p:nvSpPr>
        <p:spPr>
          <a:xfrm>
            <a:off x="4038600" y="857250"/>
            <a:ext cx="41148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3be5054b97e_3_222:notes"/>
          <p:cNvSpPr txBox="1"/>
          <p:nvPr>
            <p:ph idx="1" type="body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10" name="Google Shape;210;g3be5054b97e_3_222:notes"/>
          <p:cNvSpPr/>
          <p:nvPr>
            <p:ph idx="2" type="sldImg"/>
          </p:nvPr>
        </p:nvSpPr>
        <p:spPr>
          <a:xfrm>
            <a:off x="4038600" y="857250"/>
            <a:ext cx="41148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be5054b97e_3_230:notes"/>
          <p:cNvSpPr/>
          <p:nvPr>
            <p:ph idx="2" type="sldImg"/>
          </p:nvPr>
        </p:nvSpPr>
        <p:spPr>
          <a:xfrm>
            <a:off x="4038600" y="857250"/>
            <a:ext cx="41148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9" name="Google Shape;219;g3be5054b97e_3_230:notes"/>
          <p:cNvSpPr txBox="1"/>
          <p:nvPr>
            <p:ph idx="1" type="body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20" name="Google Shape;220;g3be5054b97e_3_230:notes"/>
          <p:cNvSpPr txBox="1"/>
          <p:nvPr>
            <p:ph idx="12" type="sldNum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g3be5054b97e_3_240:notes"/>
          <p:cNvSpPr txBox="1"/>
          <p:nvPr>
            <p:ph idx="1" type="body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30" name="Google Shape;230;g3be5054b97e_3_240:notes"/>
          <p:cNvSpPr/>
          <p:nvPr>
            <p:ph idx="2" type="sldImg"/>
          </p:nvPr>
        </p:nvSpPr>
        <p:spPr>
          <a:xfrm>
            <a:off x="4038600" y="857250"/>
            <a:ext cx="41148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g3be5054b97e_3_6"/>
          <p:cNvSpPr txBox="1"/>
          <p:nvPr>
            <p:ph type="ctrTitle"/>
          </p:nvPr>
        </p:nvSpPr>
        <p:spPr>
          <a:xfrm>
            <a:off x="914400" y="2130426"/>
            <a:ext cx="103632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g3be5054b97e_3_6"/>
          <p:cNvSpPr txBox="1"/>
          <p:nvPr>
            <p:ph idx="1" type="subTitle"/>
          </p:nvPr>
        </p:nvSpPr>
        <p:spPr>
          <a:xfrm>
            <a:off x="1828800" y="3886200"/>
            <a:ext cx="85344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Calibri"/>
              <a:buNone/>
              <a:defRPr>
                <a:solidFill>
                  <a:srgbClr val="888888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Calibri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Calibri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Calibri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Calibri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Calibri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Calibri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Calibri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Calibri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g3be5054b97e_3_6"/>
          <p:cNvSpPr txBox="1"/>
          <p:nvPr>
            <p:ph idx="10" type="dt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g3be5054b97e_3_6"/>
          <p:cNvSpPr txBox="1"/>
          <p:nvPr>
            <p:ph idx="11" type="ftr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g3be5054b97e_3_6"/>
          <p:cNvSpPr txBox="1"/>
          <p:nvPr>
            <p:ph idx="12" type="sldNum"/>
          </p:nvPr>
        </p:nvSpPr>
        <p:spPr>
          <a:xfrm>
            <a:off x="11304091" y="6486080"/>
            <a:ext cx="205104" cy="17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38100" lvl="0" marL="38100" marR="0" algn="l">
              <a:lnSpc>
                <a:spcPct val="10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" lvl="1" marL="38100" marR="0" algn="l">
              <a:lnSpc>
                <a:spcPct val="10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" lvl="2" marL="38100" marR="0" algn="l">
              <a:lnSpc>
                <a:spcPct val="10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8100" lvl="3" marL="38100" marR="0" algn="l">
              <a:lnSpc>
                <a:spcPct val="10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8100" lvl="4" marL="38100" marR="0" algn="l">
              <a:lnSpc>
                <a:spcPct val="10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8100" lvl="5" marL="38100" marR="0" algn="l">
              <a:lnSpc>
                <a:spcPct val="10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8100" lvl="6" marL="38100" marR="0" algn="l">
              <a:lnSpc>
                <a:spcPct val="10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8100" lvl="7" marL="38100" marR="0" algn="l">
              <a:lnSpc>
                <a:spcPct val="10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8100" lvl="8" marL="38100" marR="0" algn="l">
              <a:lnSpc>
                <a:spcPct val="10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-38100" lvl="0" marL="381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g3be5054b97e_3_12"/>
          <p:cNvSpPr txBox="1"/>
          <p:nvPr>
            <p:ph type="title"/>
          </p:nvPr>
        </p:nvSpPr>
        <p:spPr>
          <a:xfrm>
            <a:off x="2374905" y="250733"/>
            <a:ext cx="7361555" cy="899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i="0" sz="3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g3be5054b97e_3_12"/>
          <p:cNvSpPr txBox="1"/>
          <p:nvPr>
            <p:ph idx="11" type="ftr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g3be5054b97e_3_12"/>
          <p:cNvSpPr txBox="1"/>
          <p:nvPr>
            <p:ph idx="10" type="dt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g3be5054b97e_3_12"/>
          <p:cNvSpPr txBox="1"/>
          <p:nvPr>
            <p:ph idx="12" type="sldNum"/>
          </p:nvPr>
        </p:nvSpPr>
        <p:spPr>
          <a:xfrm>
            <a:off x="11304091" y="6486080"/>
            <a:ext cx="205104" cy="17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38100" marR="0" algn="l">
              <a:lnSpc>
                <a:spcPct val="10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38100" marR="0" algn="l">
              <a:lnSpc>
                <a:spcPct val="10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38100" marR="0" algn="l">
              <a:lnSpc>
                <a:spcPct val="10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38100" marR="0" algn="l">
              <a:lnSpc>
                <a:spcPct val="10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38100" marR="0" algn="l">
              <a:lnSpc>
                <a:spcPct val="10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38100" marR="0" algn="l">
              <a:lnSpc>
                <a:spcPct val="10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38100" marR="0" algn="l">
              <a:lnSpc>
                <a:spcPct val="10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38100" marR="0" algn="l">
              <a:lnSpc>
                <a:spcPct val="10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38100" marR="0" algn="l">
              <a:lnSpc>
                <a:spcPct val="10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381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g3be5054b97e_3_17"/>
          <p:cNvSpPr txBox="1"/>
          <p:nvPr>
            <p:ph idx="11" type="ftr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g3be5054b97e_3_17"/>
          <p:cNvSpPr txBox="1"/>
          <p:nvPr>
            <p:ph idx="10" type="dt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g3be5054b97e_3_17"/>
          <p:cNvSpPr txBox="1"/>
          <p:nvPr>
            <p:ph idx="12" type="sldNum"/>
          </p:nvPr>
        </p:nvSpPr>
        <p:spPr>
          <a:xfrm>
            <a:off x="11304091" y="6486080"/>
            <a:ext cx="205104" cy="17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38100" marR="0" algn="l">
              <a:lnSpc>
                <a:spcPct val="10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38100" marR="0" algn="l">
              <a:lnSpc>
                <a:spcPct val="10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38100" marR="0" algn="l">
              <a:lnSpc>
                <a:spcPct val="10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38100" marR="0" algn="l">
              <a:lnSpc>
                <a:spcPct val="10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38100" marR="0" algn="l">
              <a:lnSpc>
                <a:spcPct val="10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38100" marR="0" algn="l">
              <a:lnSpc>
                <a:spcPct val="10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38100" marR="0" algn="l">
              <a:lnSpc>
                <a:spcPct val="10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38100" marR="0" algn="l">
              <a:lnSpc>
                <a:spcPct val="10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38100" marR="0" algn="l">
              <a:lnSpc>
                <a:spcPct val="10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381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g3be5054b97e_3_21"/>
          <p:cNvSpPr txBox="1"/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i="0" sz="3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g3be5054b97e_3_21"/>
          <p:cNvSpPr txBox="1"/>
          <p:nvPr>
            <p:ph idx="1" type="subTitle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g3be5054b97e_3_21"/>
          <p:cNvSpPr txBox="1"/>
          <p:nvPr>
            <p:ph idx="11" type="ftr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g3be5054b97e_3_21"/>
          <p:cNvSpPr txBox="1"/>
          <p:nvPr>
            <p:ph idx="10" type="dt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g3be5054b97e_3_21"/>
          <p:cNvSpPr txBox="1"/>
          <p:nvPr>
            <p:ph idx="12" type="sldNum"/>
          </p:nvPr>
        </p:nvSpPr>
        <p:spPr>
          <a:xfrm>
            <a:off x="11304091" y="6486080"/>
            <a:ext cx="205104" cy="17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38100" marR="0" algn="l">
              <a:lnSpc>
                <a:spcPct val="10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38100" marR="0" algn="l">
              <a:lnSpc>
                <a:spcPct val="10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38100" marR="0" algn="l">
              <a:lnSpc>
                <a:spcPct val="10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38100" marR="0" algn="l">
              <a:lnSpc>
                <a:spcPct val="10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38100" marR="0" algn="l">
              <a:lnSpc>
                <a:spcPct val="10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38100" marR="0" algn="l">
              <a:lnSpc>
                <a:spcPct val="10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38100" marR="0" algn="l">
              <a:lnSpc>
                <a:spcPct val="10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38100" marR="0" algn="l">
              <a:lnSpc>
                <a:spcPct val="10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38100" marR="0" algn="l">
              <a:lnSpc>
                <a:spcPct val="10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381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Title and Conten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g3be5054b97e_3_27"/>
          <p:cNvSpPr txBox="1"/>
          <p:nvPr>
            <p:ph type="title"/>
          </p:nvPr>
        </p:nvSpPr>
        <p:spPr>
          <a:xfrm>
            <a:off x="2374905" y="250733"/>
            <a:ext cx="7361555" cy="899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i="0" sz="3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g3be5054b97e_3_27"/>
          <p:cNvSpPr txBox="1"/>
          <p:nvPr>
            <p:ph idx="1" type="body"/>
          </p:nvPr>
        </p:nvSpPr>
        <p:spPr>
          <a:xfrm>
            <a:off x="1810175" y="1548430"/>
            <a:ext cx="8964930" cy="32473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solidFill>
                  <a:schemeClr val="dk1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g3be5054b97e_3_27"/>
          <p:cNvSpPr txBox="1"/>
          <p:nvPr>
            <p:ph idx="11" type="ftr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g3be5054b97e_3_27"/>
          <p:cNvSpPr txBox="1"/>
          <p:nvPr>
            <p:ph idx="10" type="dt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g3be5054b97e_3_27"/>
          <p:cNvSpPr txBox="1"/>
          <p:nvPr>
            <p:ph idx="12" type="sldNum"/>
          </p:nvPr>
        </p:nvSpPr>
        <p:spPr>
          <a:xfrm>
            <a:off x="11304091" y="6486080"/>
            <a:ext cx="205104" cy="17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38100" marR="0" algn="l">
              <a:lnSpc>
                <a:spcPct val="10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38100" marR="0" algn="l">
              <a:lnSpc>
                <a:spcPct val="10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38100" marR="0" algn="l">
              <a:lnSpc>
                <a:spcPct val="10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38100" marR="0" algn="l">
              <a:lnSpc>
                <a:spcPct val="10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38100" marR="0" algn="l">
              <a:lnSpc>
                <a:spcPct val="10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38100" marR="0" algn="l">
              <a:lnSpc>
                <a:spcPct val="10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38100" marR="0" algn="l">
              <a:lnSpc>
                <a:spcPct val="10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38100" marR="0" algn="l">
              <a:lnSpc>
                <a:spcPct val="10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38100" marR="0" algn="l">
              <a:lnSpc>
                <a:spcPct val="10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381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>
  <p:cSld name="Two Content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g3be5054b97e_3_33"/>
          <p:cNvSpPr txBox="1"/>
          <p:nvPr>
            <p:ph type="title"/>
          </p:nvPr>
        </p:nvSpPr>
        <p:spPr>
          <a:xfrm>
            <a:off x="2374905" y="250733"/>
            <a:ext cx="7361555" cy="899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i="0" sz="3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g3be5054b97e_3_33"/>
          <p:cNvSpPr txBox="1"/>
          <p:nvPr>
            <p:ph idx="1" type="body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g3be5054b97e_3_33"/>
          <p:cNvSpPr txBox="1"/>
          <p:nvPr>
            <p:ph idx="2" type="body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6" name="Google Shape;46;g3be5054b97e_3_33"/>
          <p:cNvSpPr txBox="1"/>
          <p:nvPr>
            <p:ph idx="11" type="ftr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g3be5054b97e_3_33"/>
          <p:cNvSpPr txBox="1"/>
          <p:nvPr>
            <p:ph idx="10" type="dt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g3be5054b97e_3_33"/>
          <p:cNvSpPr txBox="1"/>
          <p:nvPr>
            <p:ph idx="12" type="sldNum"/>
          </p:nvPr>
        </p:nvSpPr>
        <p:spPr>
          <a:xfrm>
            <a:off x="11304091" y="6486080"/>
            <a:ext cx="205104" cy="17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38100" marR="0" algn="l">
              <a:lnSpc>
                <a:spcPct val="10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38100" marR="0" algn="l">
              <a:lnSpc>
                <a:spcPct val="10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38100" marR="0" algn="l">
              <a:lnSpc>
                <a:spcPct val="10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38100" marR="0" algn="l">
              <a:lnSpc>
                <a:spcPct val="10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38100" marR="0" algn="l">
              <a:lnSpc>
                <a:spcPct val="10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38100" marR="0" algn="l">
              <a:lnSpc>
                <a:spcPct val="10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38100" marR="0" algn="l">
              <a:lnSpc>
                <a:spcPct val="10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38100" marR="0" algn="l">
              <a:lnSpc>
                <a:spcPct val="10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38100" marR="0" algn="l">
              <a:lnSpc>
                <a:spcPct val="10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381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0"/>
          <p:cNvSpPr txBox="1"/>
          <p:nvPr>
            <p:ph type="title"/>
          </p:nvPr>
        </p:nvSpPr>
        <p:spPr>
          <a:xfrm>
            <a:off x="2374905" y="250733"/>
            <a:ext cx="7361555" cy="899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i="0" sz="3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20"/>
          <p:cNvSpPr txBox="1"/>
          <p:nvPr>
            <p:ph idx="11" type="ftr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20"/>
          <p:cNvSpPr txBox="1"/>
          <p:nvPr>
            <p:ph idx="10" type="dt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20"/>
          <p:cNvSpPr txBox="1"/>
          <p:nvPr>
            <p:ph idx="12" type="sldNum"/>
          </p:nvPr>
        </p:nvSpPr>
        <p:spPr>
          <a:xfrm>
            <a:off x="11304091" y="6486080"/>
            <a:ext cx="205104" cy="17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38100" marR="0" algn="l">
              <a:lnSpc>
                <a:spcPct val="10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38100" marR="0" algn="l">
              <a:lnSpc>
                <a:spcPct val="10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38100" marR="0" algn="l">
              <a:lnSpc>
                <a:spcPct val="10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38100" marR="0" algn="l">
              <a:lnSpc>
                <a:spcPct val="10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38100" marR="0" algn="l">
              <a:lnSpc>
                <a:spcPct val="10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38100" marR="0" algn="l">
              <a:lnSpc>
                <a:spcPct val="10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38100" marR="0" algn="l">
              <a:lnSpc>
                <a:spcPct val="10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38100" marR="0" algn="l">
              <a:lnSpc>
                <a:spcPct val="10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38100" marR="0" algn="l">
              <a:lnSpc>
                <a:spcPct val="10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381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"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21"/>
          <p:cNvSpPr txBox="1"/>
          <p:nvPr>
            <p:ph idx="11" type="ftr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21"/>
          <p:cNvSpPr txBox="1"/>
          <p:nvPr>
            <p:ph idx="10" type="dt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21"/>
          <p:cNvSpPr txBox="1"/>
          <p:nvPr>
            <p:ph idx="12" type="sldNum"/>
          </p:nvPr>
        </p:nvSpPr>
        <p:spPr>
          <a:xfrm>
            <a:off x="11304091" y="6486080"/>
            <a:ext cx="205104" cy="17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38100" marR="0" algn="l">
              <a:lnSpc>
                <a:spcPct val="10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38100" marR="0" algn="l">
              <a:lnSpc>
                <a:spcPct val="10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38100" marR="0" algn="l">
              <a:lnSpc>
                <a:spcPct val="10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38100" marR="0" algn="l">
              <a:lnSpc>
                <a:spcPct val="10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38100" marR="0" algn="l">
              <a:lnSpc>
                <a:spcPct val="10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38100" marR="0" algn="l">
              <a:lnSpc>
                <a:spcPct val="10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38100" marR="0" algn="l">
              <a:lnSpc>
                <a:spcPct val="10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38100" marR="0" algn="l">
              <a:lnSpc>
                <a:spcPct val="10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38100" marR="0" algn="l">
              <a:lnSpc>
                <a:spcPct val="10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381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9"/>
          <p:cNvSpPr txBox="1"/>
          <p:nvPr>
            <p:ph type="title"/>
          </p:nvPr>
        </p:nvSpPr>
        <p:spPr>
          <a:xfrm>
            <a:off x="2374905" y="250733"/>
            <a:ext cx="7361555" cy="899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i="0" sz="3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9"/>
          <p:cNvSpPr txBox="1"/>
          <p:nvPr>
            <p:ph idx="1" type="body"/>
          </p:nvPr>
        </p:nvSpPr>
        <p:spPr>
          <a:xfrm>
            <a:off x="1810175" y="1548430"/>
            <a:ext cx="8964930" cy="32473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solidFill>
                  <a:schemeClr val="dk1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9"/>
          <p:cNvSpPr txBox="1"/>
          <p:nvPr>
            <p:ph idx="11" type="ftr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19"/>
          <p:cNvSpPr txBox="1"/>
          <p:nvPr>
            <p:ph idx="10" type="dt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19"/>
          <p:cNvSpPr txBox="1"/>
          <p:nvPr>
            <p:ph idx="12" type="sldNum"/>
          </p:nvPr>
        </p:nvSpPr>
        <p:spPr>
          <a:xfrm>
            <a:off x="11304091" y="6486080"/>
            <a:ext cx="205104" cy="17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38100" marR="0" algn="l">
              <a:lnSpc>
                <a:spcPct val="10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38100" marR="0" algn="l">
              <a:lnSpc>
                <a:spcPct val="10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38100" marR="0" algn="l">
              <a:lnSpc>
                <a:spcPct val="10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38100" marR="0" algn="l">
              <a:lnSpc>
                <a:spcPct val="10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38100" marR="0" algn="l">
              <a:lnSpc>
                <a:spcPct val="10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38100" marR="0" algn="l">
              <a:lnSpc>
                <a:spcPct val="10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38100" marR="0" algn="l">
              <a:lnSpc>
                <a:spcPct val="10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38100" marR="0" algn="l">
              <a:lnSpc>
                <a:spcPct val="10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38100" marR="0" algn="l">
              <a:lnSpc>
                <a:spcPct val="10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381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22"/>
          <p:cNvSpPr txBox="1"/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i="0" sz="3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22"/>
          <p:cNvSpPr txBox="1"/>
          <p:nvPr>
            <p:ph idx="1" type="subTitle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22"/>
          <p:cNvSpPr txBox="1"/>
          <p:nvPr>
            <p:ph idx="11" type="ftr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22"/>
          <p:cNvSpPr txBox="1"/>
          <p:nvPr>
            <p:ph idx="10" type="dt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22"/>
          <p:cNvSpPr txBox="1"/>
          <p:nvPr>
            <p:ph idx="12" type="sldNum"/>
          </p:nvPr>
        </p:nvSpPr>
        <p:spPr>
          <a:xfrm>
            <a:off x="11304091" y="6486080"/>
            <a:ext cx="205104" cy="17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38100" marR="0" algn="l">
              <a:lnSpc>
                <a:spcPct val="10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38100" marR="0" algn="l">
              <a:lnSpc>
                <a:spcPct val="10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38100" marR="0" algn="l">
              <a:lnSpc>
                <a:spcPct val="10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38100" marR="0" algn="l">
              <a:lnSpc>
                <a:spcPct val="10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38100" marR="0" algn="l">
              <a:lnSpc>
                <a:spcPct val="10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38100" marR="0" algn="l">
              <a:lnSpc>
                <a:spcPct val="10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38100" marR="0" algn="l">
              <a:lnSpc>
                <a:spcPct val="10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38100" marR="0" algn="l">
              <a:lnSpc>
                <a:spcPct val="10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38100" marR="0" algn="l">
              <a:lnSpc>
                <a:spcPct val="10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381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>
  <p:cSld name="Two Content"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23"/>
          <p:cNvSpPr txBox="1"/>
          <p:nvPr>
            <p:ph type="title"/>
          </p:nvPr>
        </p:nvSpPr>
        <p:spPr>
          <a:xfrm>
            <a:off x="2374905" y="250733"/>
            <a:ext cx="7361555" cy="899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i="0" sz="3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3"/>
          <p:cNvSpPr txBox="1"/>
          <p:nvPr>
            <p:ph idx="1" type="body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23"/>
          <p:cNvSpPr txBox="1"/>
          <p:nvPr>
            <p:ph idx="2" type="body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23"/>
          <p:cNvSpPr txBox="1"/>
          <p:nvPr>
            <p:ph idx="11" type="ftr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1" name="Google Shape;81;p23"/>
          <p:cNvSpPr txBox="1"/>
          <p:nvPr>
            <p:ph idx="10" type="dt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23"/>
          <p:cNvSpPr txBox="1"/>
          <p:nvPr>
            <p:ph idx="12" type="sldNum"/>
          </p:nvPr>
        </p:nvSpPr>
        <p:spPr>
          <a:xfrm>
            <a:off x="11304091" y="6486080"/>
            <a:ext cx="205104" cy="17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38100" marR="0" algn="l">
              <a:lnSpc>
                <a:spcPct val="10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38100" marR="0" algn="l">
              <a:lnSpc>
                <a:spcPct val="10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38100" marR="0" algn="l">
              <a:lnSpc>
                <a:spcPct val="10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38100" marR="0" algn="l">
              <a:lnSpc>
                <a:spcPct val="10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38100" marR="0" algn="l">
              <a:lnSpc>
                <a:spcPct val="10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38100" marR="0" algn="l">
              <a:lnSpc>
                <a:spcPct val="10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38100" marR="0" algn="l">
              <a:lnSpc>
                <a:spcPct val="10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38100" marR="0" algn="l">
              <a:lnSpc>
                <a:spcPct val="10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38100" marR="0" algn="l">
              <a:lnSpc>
                <a:spcPct val="10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381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2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Layout" Target="../slideLayouts/slideLayout8.xml"/><Relationship Id="rId3" Type="http://schemas.openxmlformats.org/officeDocument/2006/relationships/slideLayout" Target="../slideLayouts/slideLayout9.xml"/><Relationship Id="rId4" Type="http://schemas.openxmlformats.org/officeDocument/2006/relationships/slideLayout" Target="../slideLayouts/slideLayout10.xml"/><Relationship Id="rId5" Type="http://schemas.openxmlformats.org/officeDocument/2006/relationships/slideLayout" Target="../slideLayouts/slideLayout11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g3be5054b97e_3_0"/>
          <p:cNvSpPr txBox="1"/>
          <p:nvPr>
            <p:ph type="title"/>
          </p:nvPr>
        </p:nvSpPr>
        <p:spPr>
          <a:xfrm>
            <a:off x="2374905" y="250733"/>
            <a:ext cx="7361555" cy="899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32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" name="Google Shape;11;g3be5054b97e_3_0"/>
          <p:cNvSpPr txBox="1"/>
          <p:nvPr>
            <p:ph idx="1" type="body"/>
          </p:nvPr>
        </p:nvSpPr>
        <p:spPr>
          <a:xfrm>
            <a:off x="1810175" y="1548430"/>
            <a:ext cx="8964930" cy="32473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g3be5054b97e_3_0"/>
          <p:cNvSpPr txBox="1"/>
          <p:nvPr>
            <p:ph idx="11" type="ftr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" name="Google Shape;13;g3be5054b97e_3_0"/>
          <p:cNvSpPr txBox="1"/>
          <p:nvPr>
            <p:ph idx="10" type="dt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" name="Google Shape;14;g3be5054b97e_3_0"/>
          <p:cNvSpPr txBox="1"/>
          <p:nvPr>
            <p:ph idx="12" type="sldNum"/>
          </p:nvPr>
        </p:nvSpPr>
        <p:spPr>
          <a:xfrm>
            <a:off x="11304091" y="6486080"/>
            <a:ext cx="205104" cy="17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38100" marR="0" rtl="0" algn="l">
              <a:lnSpc>
                <a:spcPct val="10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38100" marR="0" rtl="0" algn="l">
              <a:lnSpc>
                <a:spcPct val="10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38100" marR="0" rtl="0" algn="l">
              <a:lnSpc>
                <a:spcPct val="10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38100" marR="0" rtl="0" algn="l">
              <a:lnSpc>
                <a:spcPct val="10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38100" marR="0" rtl="0" algn="l">
              <a:lnSpc>
                <a:spcPct val="10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38100" marR="0" rtl="0" algn="l">
              <a:lnSpc>
                <a:spcPct val="10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38100" marR="0" rtl="0" algn="l">
              <a:lnSpc>
                <a:spcPct val="10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38100" marR="0" rtl="0" algn="l">
              <a:lnSpc>
                <a:spcPct val="10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38100" marR="0" rtl="0" algn="l">
              <a:lnSpc>
                <a:spcPct val="10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381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8"/>
          <p:cNvSpPr txBox="1"/>
          <p:nvPr>
            <p:ph type="title"/>
          </p:nvPr>
        </p:nvSpPr>
        <p:spPr>
          <a:xfrm>
            <a:off x="2374905" y="250733"/>
            <a:ext cx="7361555" cy="899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32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1" name="Google Shape;51;p18"/>
          <p:cNvSpPr txBox="1"/>
          <p:nvPr>
            <p:ph idx="1" type="body"/>
          </p:nvPr>
        </p:nvSpPr>
        <p:spPr>
          <a:xfrm>
            <a:off x="1810175" y="1548430"/>
            <a:ext cx="8964930" cy="32473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2" name="Google Shape;52;p18"/>
          <p:cNvSpPr txBox="1"/>
          <p:nvPr>
            <p:ph idx="11" type="ftr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18"/>
          <p:cNvSpPr txBox="1"/>
          <p:nvPr>
            <p:ph idx="10" type="dt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4" name="Google Shape;54;p18"/>
          <p:cNvSpPr txBox="1"/>
          <p:nvPr>
            <p:ph idx="12" type="sldNum"/>
          </p:nvPr>
        </p:nvSpPr>
        <p:spPr>
          <a:xfrm>
            <a:off x="11304091" y="6486080"/>
            <a:ext cx="205104" cy="17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38100" marR="0" rtl="0" algn="l">
              <a:lnSpc>
                <a:spcPct val="10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38100" marR="0" rtl="0" algn="l">
              <a:lnSpc>
                <a:spcPct val="10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38100" marR="0" rtl="0" algn="l">
              <a:lnSpc>
                <a:spcPct val="10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38100" marR="0" rtl="0" algn="l">
              <a:lnSpc>
                <a:spcPct val="10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38100" marR="0" rtl="0" algn="l">
              <a:lnSpc>
                <a:spcPct val="10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38100" marR="0" rtl="0" algn="l">
              <a:lnSpc>
                <a:spcPct val="10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38100" marR="0" rtl="0" algn="l">
              <a:lnSpc>
                <a:spcPct val="10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38100" marR="0" rtl="0" algn="l">
              <a:lnSpc>
                <a:spcPct val="10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38100" marR="0" rtl="0" algn="l">
              <a:lnSpc>
                <a:spcPct val="10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381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6" r:id="rId1"/>
    <p:sldLayoutId id="2147483657" r:id="rId2"/>
    <p:sldLayoutId id="2147483658" r:id="rId3"/>
    <p:sldLayoutId id="2147483659" r:id="rId4"/>
    <p:sldLayoutId id="2147483660" r:id="rId5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1.jp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jpg"/><Relationship Id="rId4" Type="http://schemas.openxmlformats.org/officeDocument/2006/relationships/image" Target="../media/image3.jp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3.jpg"/><Relationship Id="rId5" Type="http://schemas.openxmlformats.org/officeDocument/2006/relationships/image" Target="../media/image8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3.jp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Relationship Id="rId4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jpg"/><Relationship Id="rId4" Type="http://schemas.openxmlformats.org/officeDocument/2006/relationships/image" Target="../media/image3.jpg"/><Relationship Id="rId5" Type="http://schemas.openxmlformats.org/officeDocument/2006/relationships/image" Target="../media/image7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jpg"/><Relationship Id="rId5" Type="http://schemas.openxmlformats.org/officeDocument/2006/relationships/image" Target="../media/image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jpg"/><Relationship Id="rId4" Type="http://schemas.openxmlformats.org/officeDocument/2006/relationships/image" Target="../media/image3.jpg"/><Relationship Id="rId5" Type="http://schemas.openxmlformats.org/officeDocument/2006/relationships/image" Target="../media/image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jpg"/><Relationship Id="rId4" Type="http://schemas.openxmlformats.org/officeDocument/2006/relationships/image" Target="../media/image3.jpg"/><Relationship Id="rId5" Type="http://schemas.openxmlformats.org/officeDocument/2006/relationships/image" Target="../media/image13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jpg"/><Relationship Id="rId4" Type="http://schemas.openxmlformats.org/officeDocument/2006/relationships/image" Target="../media/image3.jpg"/><Relationship Id="rId5" Type="http://schemas.openxmlformats.org/officeDocument/2006/relationships/image" Target="../media/image1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jpg"/><Relationship Id="rId4" Type="http://schemas.openxmlformats.org/officeDocument/2006/relationships/image" Target="../media/image3.jpg"/><Relationship Id="rId5" Type="http://schemas.openxmlformats.org/officeDocument/2006/relationships/image" Target="../media/image11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Relationship Id="rId4" Type="http://schemas.openxmlformats.org/officeDocument/2006/relationships/image" Target="../media/image3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jpg"/><Relationship Id="rId4" Type="http://schemas.openxmlformats.org/officeDocument/2006/relationships/image" Target="../media/image3.jp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jpg"/><Relationship Id="rId4" Type="http://schemas.openxmlformats.org/officeDocument/2006/relationships/image" Target="../media/image3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4.jpg"/><Relationship Id="rId4" Type="http://schemas.openxmlformats.org/officeDocument/2006/relationships/image" Target="../media/image3.jp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3f86946267d_2_0"/>
          <p:cNvSpPr txBox="1"/>
          <p:nvPr>
            <p:ph type="ctrTitle"/>
          </p:nvPr>
        </p:nvSpPr>
        <p:spPr>
          <a:xfrm>
            <a:off x="618450" y="2176806"/>
            <a:ext cx="10955100" cy="16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633095" rtl="0" algn="ctr">
              <a:lnSpc>
                <a:spcPct val="100000"/>
              </a:lnSpc>
              <a:spcBef>
                <a:spcPts val="1070"/>
              </a:spcBef>
              <a:spcAft>
                <a:spcPts val="0"/>
              </a:spcAft>
              <a:buSzPts val="4000"/>
              <a:buNone/>
            </a:pPr>
            <a:r>
              <a:rPr lang="en-US" sz="3600"/>
              <a:t>AI Powered Multimodal</a:t>
            </a:r>
            <a:r>
              <a:rPr lang="en-US" sz="3600">
                <a:solidFill>
                  <a:srgbClr val="A64D79"/>
                </a:solidFill>
              </a:rPr>
              <a:t> Research </a:t>
            </a:r>
            <a:r>
              <a:rPr lang="en-US" sz="3600"/>
              <a:t>and</a:t>
            </a:r>
            <a:r>
              <a:rPr lang="en-US" sz="3600">
                <a:solidFill>
                  <a:srgbClr val="A64D79"/>
                </a:solidFill>
              </a:rPr>
              <a:t> Study Analysis </a:t>
            </a:r>
            <a:r>
              <a:rPr lang="en-US" sz="3600"/>
              <a:t>for Engineering Students</a:t>
            </a:r>
            <a:endParaRPr sz="3600"/>
          </a:p>
        </p:txBody>
      </p:sp>
      <p:pic>
        <p:nvPicPr>
          <p:cNvPr id="89" name="Google Shape;89;g3f86946267d_2_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352" y="191626"/>
            <a:ext cx="1135117" cy="1342884"/>
          </a:xfrm>
          <a:prstGeom prst="rect">
            <a:avLst/>
          </a:prstGeom>
          <a:noFill/>
          <a:ln>
            <a:noFill/>
          </a:ln>
        </p:spPr>
      </p:pic>
      <p:pic>
        <p:nvPicPr>
          <p:cNvPr id="90" name="Google Shape;90;g3f86946267d_2_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514231" y="191626"/>
            <a:ext cx="1520114" cy="1342884"/>
          </a:xfrm>
          <a:prstGeom prst="rect">
            <a:avLst/>
          </a:prstGeom>
          <a:noFill/>
          <a:ln>
            <a:noFill/>
          </a:ln>
        </p:spPr>
      </p:pic>
      <p:sp>
        <p:nvSpPr>
          <p:cNvPr id="91" name="Google Shape;91;g3f86946267d_2_0"/>
          <p:cNvSpPr txBox="1"/>
          <p:nvPr/>
        </p:nvSpPr>
        <p:spPr>
          <a:xfrm>
            <a:off x="3441900" y="335165"/>
            <a:ext cx="5308200" cy="14979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12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   SIMATS ENGINEERING</a:t>
            </a:r>
            <a:endParaRPr b="1" i="0" sz="28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1270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"/>
              <a:buFont typeface="Arial"/>
              <a:buNone/>
            </a:pPr>
            <a:r>
              <a:t/>
            </a:r>
            <a:endParaRPr b="1" i="0" sz="3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1146175" lvl="0" marL="1158240" marR="508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SAVEETHA INSTITUTE OF MEDICAL AND TECHNICAL SCIENCES</a:t>
            </a:r>
            <a:endParaRPr b="0" i="0" sz="20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t/>
            </a:r>
            <a:endParaRPr b="1" i="0" sz="28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2" name="Google Shape;92;g3f86946267d_2_0"/>
          <p:cNvSpPr txBox="1"/>
          <p:nvPr/>
        </p:nvSpPr>
        <p:spPr>
          <a:xfrm>
            <a:off x="8859950" y="4761297"/>
            <a:ext cx="2970900" cy="16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i="0" lang="en-US" sz="20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J Karthik - 192472136</a:t>
            </a:r>
            <a:endParaRPr b="0" i="0" sz="20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i="0" lang="en-US" sz="20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M.Chaitanya - 192472047</a:t>
            </a:r>
            <a:endParaRPr b="0" i="0" sz="20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i="0" lang="en-US" sz="20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Joanathan - 192472229</a:t>
            </a:r>
            <a:endParaRPr b="0" i="0" sz="20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i="0" lang="en-US" sz="20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V Rohan - 192472227</a:t>
            </a:r>
            <a:endParaRPr b="0" i="0" sz="20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0" i="0" sz="20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t/>
            </a:r>
            <a:endParaRPr b="0" i="0" sz="20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3" name="Google Shape;93;g3f86946267d_2_0"/>
          <p:cNvSpPr txBox="1"/>
          <p:nvPr/>
        </p:nvSpPr>
        <p:spPr>
          <a:xfrm>
            <a:off x="247529" y="5514600"/>
            <a:ext cx="5667000" cy="72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Times New Roman"/>
              <a:buNone/>
            </a:pPr>
            <a:r>
              <a:rPr b="1" i="0" lang="en-US" sz="2000" u="none" cap="none" strike="noStrike">
                <a:solidFill>
                  <a:srgbClr val="A64D79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Course</a:t>
            </a:r>
            <a:r>
              <a:rPr b="1" i="0" lang="en-US" sz="2000" u="none" cap="none" strike="noStrike">
                <a:solidFill>
                  <a:schemeClr val="accent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b="1" i="0" lang="en-US" sz="20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: </a:t>
            </a:r>
            <a:r>
              <a:rPr b="0" i="0" lang="en-US" sz="20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CSA6502 - Generative AI and Large Scale Model</a:t>
            </a:r>
            <a:endParaRPr b="0" i="0" sz="2000" u="none" cap="none" strike="noStrike">
              <a:solidFill>
                <a:srgbClr val="888888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4" name="Google Shape;94;g3f86946267d_2_0"/>
          <p:cNvSpPr txBox="1"/>
          <p:nvPr/>
        </p:nvSpPr>
        <p:spPr>
          <a:xfrm>
            <a:off x="294575" y="4353300"/>
            <a:ext cx="2970900" cy="116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A64D79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Faculty</a:t>
            </a:r>
            <a:r>
              <a:rPr b="1" i="0" lang="en-US" sz="20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,</a:t>
            </a:r>
            <a:endParaRPr b="1" i="0" sz="20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Dr. Nithisha J                                                    </a:t>
            </a:r>
            <a:endParaRPr b="0" i="0" sz="20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t/>
            </a:r>
            <a:endParaRPr b="0" i="0" sz="20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t/>
            </a:r>
            <a:endParaRPr b="0" i="0" sz="2000" u="none" cap="none" strike="noStrike">
              <a:solidFill>
                <a:srgbClr val="888888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5" name="Google Shape;95;g3f86946267d_2_0"/>
          <p:cNvSpPr txBox="1"/>
          <p:nvPr/>
        </p:nvSpPr>
        <p:spPr>
          <a:xfrm>
            <a:off x="9806450" y="4353300"/>
            <a:ext cx="2024400" cy="408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A64D79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Presented by</a:t>
            </a:r>
            <a:r>
              <a:rPr b="1" i="0" lang="en-US" sz="20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,</a:t>
            </a:r>
            <a:r>
              <a:rPr b="1" i="0" lang="en-US" sz="2000" u="none" cap="none" strike="noStrike">
                <a:solidFill>
                  <a:schemeClr val="accent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endParaRPr b="1" i="0" sz="2000" u="none" cap="none" strike="noStrike">
              <a:solidFill>
                <a:schemeClr val="accent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Sp="0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3f86946267d_2_13"/>
          <p:cNvSpPr txBox="1"/>
          <p:nvPr>
            <p:ph type="title"/>
          </p:nvPr>
        </p:nvSpPr>
        <p:spPr>
          <a:xfrm>
            <a:off x="1465035" y="232445"/>
            <a:ext cx="8364900" cy="81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315700">
            <a:spAutoFit/>
          </a:bodyPr>
          <a:lstStyle/>
          <a:p>
            <a:pPr indent="0" lvl="0" marL="136715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>
                <a:solidFill>
                  <a:srgbClr val="A64D79"/>
                </a:solidFill>
              </a:rPr>
              <a:t>ABSTRACT</a:t>
            </a:r>
            <a:endParaRPr>
              <a:solidFill>
                <a:srgbClr val="A64D79"/>
              </a:solidFill>
            </a:endParaRPr>
          </a:p>
        </p:txBody>
      </p:sp>
      <p:pic>
        <p:nvPicPr>
          <p:cNvPr id="101" name="Google Shape;101;g3f86946267d_2_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9920" y="173338"/>
            <a:ext cx="1135115" cy="1342882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g3f86946267d_2_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486799" y="173338"/>
            <a:ext cx="1520112" cy="1342882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g3f86946267d_2_13"/>
          <p:cNvSpPr txBox="1"/>
          <p:nvPr>
            <p:ph idx="12" type="sldNum"/>
          </p:nvPr>
        </p:nvSpPr>
        <p:spPr>
          <a:xfrm>
            <a:off x="11276659" y="6467792"/>
            <a:ext cx="205104" cy="17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38100" rtl="0" algn="l">
              <a:lnSpc>
                <a:spcPct val="103333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04" name="Google Shape;104;g3f86946267d_2_13"/>
          <p:cNvSpPr/>
          <p:nvPr/>
        </p:nvSpPr>
        <p:spPr>
          <a:xfrm>
            <a:off x="1036700" y="1581250"/>
            <a:ext cx="9974100" cy="465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55600" lvl="0" marL="444500" marR="0" rtl="0" algn="just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Char char="•"/>
            </a:pPr>
            <a:r>
              <a:rPr b="0" i="0" lang="en-US" sz="22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An AI-powered platform that helps engineering students understand and analyze academic and research materials.</a:t>
            </a:r>
            <a:endParaRPr b="0" i="0" sz="22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55600" lvl="0" marL="44450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Char char="•"/>
            </a:pPr>
            <a:r>
              <a:rPr b="0" i="0" lang="en-US" sz="22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Accepts multiple formats such as PDFs, research papers, images, notes, and documents.</a:t>
            </a:r>
            <a:endParaRPr b="0" i="0" sz="22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55600" lvl="0" marL="44450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Char char="•"/>
            </a:pPr>
            <a:r>
              <a:rPr b="0" i="0" lang="en-US" sz="22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Uses AI to retrieve relevant information and analyze content from multiple sources.</a:t>
            </a:r>
            <a:endParaRPr b="0" i="0" sz="22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55600" lvl="0" marL="44450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Char char="•"/>
            </a:pPr>
            <a:r>
              <a:rPr b="0" i="0" lang="en-US" sz="22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Generates summaries, explanations, comparisons, quizzes, and research insights.</a:t>
            </a:r>
            <a:endParaRPr b="0" i="0" sz="22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55600" lvl="0" marL="44450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Char char="•"/>
            </a:pPr>
            <a:r>
              <a:rPr b="0" i="0" lang="en-US" sz="22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Helps students reduce research time and improve their learning process.</a:t>
            </a:r>
            <a:endParaRPr b="0" i="0" sz="22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Sp="0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3f86946267d_2_22"/>
          <p:cNvSpPr txBox="1"/>
          <p:nvPr>
            <p:ph type="title"/>
          </p:nvPr>
        </p:nvSpPr>
        <p:spPr>
          <a:xfrm>
            <a:off x="1465035" y="232445"/>
            <a:ext cx="8364900" cy="81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315700">
            <a:spAutoFit/>
          </a:bodyPr>
          <a:lstStyle/>
          <a:p>
            <a:pPr indent="0" lvl="0" marL="136715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>
                <a:solidFill>
                  <a:srgbClr val="A64D79"/>
                </a:solidFill>
              </a:rPr>
              <a:t>INTRODUCTION</a:t>
            </a:r>
            <a:endParaRPr>
              <a:solidFill>
                <a:srgbClr val="A64D79"/>
              </a:solidFill>
            </a:endParaRPr>
          </a:p>
        </p:txBody>
      </p:sp>
      <p:pic>
        <p:nvPicPr>
          <p:cNvPr id="110" name="Google Shape;110;g3f86946267d_2_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9920" y="173338"/>
            <a:ext cx="1135115" cy="1342882"/>
          </a:xfrm>
          <a:prstGeom prst="rect">
            <a:avLst/>
          </a:prstGeom>
          <a:noFill/>
          <a:ln>
            <a:noFill/>
          </a:ln>
        </p:spPr>
      </p:pic>
      <p:pic>
        <p:nvPicPr>
          <p:cNvPr id="111" name="Google Shape;111;g3f86946267d_2_2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486799" y="173338"/>
            <a:ext cx="1520112" cy="1342882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g3f86946267d_2_22"/>
          <p:cNvSpPr txBox="1"/>
          <p:nvPr>
            <p:ph idx="12" type="sldNum"/>
          </p:nvPr>
        </p:nvSpPr>
        <p:spPr>
          <a:xfrm>
            <a:off x="11276659" y="6467792"/>
            <a:ext cx="205104" cy="17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38100" rtl="0" algn="l">
              <a:lnSpc>
                <a:spcPct val="103333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13" name="Google Shape;113;g3f86946267d_2_22"/>
          <p:cNvSpPr/>
          <p:nvPr/>
        </p:nvSpPr>
        <p:spPr>
          <a:xfrm>
            <a:off x="329925" y="1753075"/>
            <a:ext cx="7317300" cy="465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42900" lvl="0" marL="444500" marR="0" rtl="0" algn="just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b="0" i="0" lang="en-US" sz="20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Engineering students work with large amounts of academic and research material.</a:t>
            </a:r>
            <a:endParaRPr b="0" i="0" sz="20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42900" lvl="0" marL="44450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b="0" i="0" lang="en-US" sz="20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Information is often spread across different documents and formats.</a:t>
            </a:r>
            <a:endParaRPr b="0" i="0" sz="20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42900" lvl="0" marL="44450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b="0" i="0" lang="en-US" sz="20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Traditional methods make it difficult to quickly find and connect relevant information.</a:t>
            </a:r>
            <a:endParaRPr b="0" i="0" sz="20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42900" lvl="0" marL="44450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b="0" i="0" lang="en-US" sz="20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Our system uses multimodal AI to understand, retrieve, and analyze this information.</a:t>
            </a:r>
            <a:endParaRPr b="0" i="0" sz="20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42900" lvl="0" marL="44450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b="0" i="0" lang="en-US" sz="20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It provides personalized study and research support in one platform.</a:t>
            </a:r>
            <a:endParaRPr b="0" i="0" sz="20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114" name="Google Shape;114;g3f86946267d_2_22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799625" y="1668620"/>
            <a:ext cx="4239975" cy="4239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Sp="0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g3f86946267d_2_31"/>
          <p:cNvSpPr txBox="1"/>
          <p:nvPr>
            <p:ph type="title"/>
          </p:nvPr>
        </p:nvSpPr>
        <p:spPr>
          <a:xfrm>
            <a:off x="1372538" y="232445"/>
            <a:ext cx="8364900" cy="81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315700">
            <a:spAutoFit/>
          </a:bodyPr>
          <a:lstStyle/>
          <a:p>
            <a:pPr indent="0" lvl="0" marL="136715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>
                <a:solidFill>
                  <a:srgbClr val="A64D79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OBJECTIVES</a:t>
            </a:r>
            <a:endParaRPr>
              <a:solidFill>
                <a:srgbClr val="A64D79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120" name="Google Shape;120;g3f86946267d_2_3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9920" y="173338"/>
            <a:ext cx="1135115" cy="1342882"/>
          </a:xfrm>
          <a:prstGeom prst="rect">
            <a:avLst/>
          </a:prstGeom>
          <a:noFill/>
          <a:ln>
            <a:noFill/>
          </a:ln>
        </p:spPr>
      </p:pic>
      <p:pic>
        <p:nvPicPr>
          <p:cNvPr id="121" name="Google Shape;121;g3f86946267d_2_3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486799" y="173338"/>
            <a:ext cx="1520112" cy="1342882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g3f86946267d_2_31"/>
          <p:cNvSpPr txBox="1"/>
          <p:nvPr>
            <p:ph idx="12" type="sldNum"/>
          </p:nvPr>
        </p:nvSpPr>
        <p:spPr>
          <a:xfrm>
            <a:off x="11276659" y="6467792"/>
            <a:ext cx="205104" cy="1538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38100" rtl="0" algn="l">
              <a:lnSpc>
                <a:spcPct val="103333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graphicFrame>
        <p:nvGraphicFramePr>
          <p:cNvPr id="123" name="Google Shape;123;g3f86946267d_2_31"/>
          <p:cNvGraphicFramePr/>
          <p:nvPr/>
        </p:nvGraphicFramePr>
        <p:xfrm>
          <a:off x="924910" y="1745064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{6A0750D6-3A62-4C8A-8B76-66FF32D235F1}</a:tableStyleId>
              </a:tblPr>
              <a:tblGrid>
                <a:gridCol w="3520725"/>
                <a:gridCol w="6832900"/>
              </a:tblGrid>
              <a:tr h="7777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000"/>
                        <a:buFont typeface="Arial"/>
                        <a:buNone/>
                      </a:pPr>
                      <a:r>
                        <a:rPr b="1" lang="en-US" sz="20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Objective</a:t>
                      </a:r>
                      <a:endParaRPr b="1" sz="20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A64D7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A64D7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A64D7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A64D7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AD1D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000"/>
                        <a:buFont typeface="Arial"/>
                        <a:buNone/>
                      </a:pPr>
                      <a:r>
                        <a:rPr b="1" lang="en-US" sz="20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Explanation</a:t>
                      </a:r>
                      <a:endParaRPr sz="20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A64D7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A64D7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A64D7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A64D7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AD1DC"/>
                    </a:solidFill>
                  </a:tcPr>
                </a:tc>
              </a:tr>
              <a:tr h="7868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18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Multimodal Content Processing</a:t>
                      </a:r>
                      <a:endParaRPr b="1" sz="18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91425" marL="91425" anchor="ctr">
                    <a:lnL cap="flat" cmpd="sng" w="12700">
                      <a:solidFill>
                        <a:srgbClr val="A64D7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A64D7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A64D7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A64D7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AD1D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imes New Roman"/>
                        <a:buNone/>
                      </a:pPr>
                      <a:r>
                        <a:rPr lang="en-US" sz="18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Process academic materials from different formats such as text, images, and documents.</a:t>
                      </a:r>
                      <a:endParaRPr sz="18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91425" marL="91425" anchor="ctr">
                    <a:lnL cap="flat" cmpd="sng" w="12700">
                      <a:solidFill>
                        <a:srgbClr val="A64D7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A64D7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A64D7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A64D7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AD1DC"/>
                    </a:solidFill>
                  </a:tcPr>
                </a:tc>
              </a:tr>
              <a:tr h="7777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imes New Roman"/>
                        <a:buNone/>
                      </a:pPr>
                      <a:r>
                        <a:rPr b="1" lang="en-US" sz="18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Intelligent Knowledge Retrieval</a:t>
                      </a:r>
                      <a:endParaRPr b="1" sz="18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91425" marL="91425" anchor="ctr">
                    <a:lnL cap="flat" cmpd="sng" w="12700">
                      <a:solidFill>
                        <a:srgbClr val="A64D7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A64D7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A64D7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A64D7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AD1D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imes New Roman"/>
                        <a:buNone/>
                      </a:pPr>
                      <a:r>
                        <a:rPr lang="en-US" sz="18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Retrieve relevant information from the collected study and research materials.</a:t>
                      </a:r>
                      <a:endParaRPr sz="18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91425" marL="91425" anchor="ctr">
                    <a:lnL cap="flat" cmpd="sng" w="12700">
                      <a:solidFill>
                        <a:srgbClr val="A64D7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A64D7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A64D7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A64D7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AD1DC"/>
                    </a:solidFill>
                  </a:tcPr>
                </a:tc>
              </a:tr>
              <a:tr h="7777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imes New Roman"/>
                        <a:buNone/>
                      </a:pPr>
                      <a:r>
                        <a:rPr b="1" lang="en-US" sz="18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AI-Based Analysis</a:t>
                      </a:r>
                      <a:endParaRPr b="1" sz="18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91425" marL="91425" anchor="ctr">
                    <a:lnL cap="flat" cmpd="sng" w="12700">
                      <a:solidFill>
                        <a:srgbClr val="A64D7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A64D7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A64D7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A64D7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AD1D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imes New Roman"/>
                        <a:buNone/>
                      </a:pPr>
                      <a:r>
                        <a:rPr lang="en-US" sz="18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Summarize, compare, explain, and identify important research insights.</a:t>
                      </a:r>
                      <a:endParaRPr sz="18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91425" marL="91425" anchor="ctr">
                    <a:lnL cap="flat" cmpd="sng" w="12700">
                      <a:solidFill>
                        <a:srgbClr val="A64D7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A64D7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A64D7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A64D7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AD1DC"/>
                    </a:solidFill>
                  </a:tcPr>
                </a:tc>
              </a:tr>
              <a:tr h="7868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imes New Roman"/>
                        <a:buNone/>
                      </a:pPr>
                      <a:r>
                        <a:rPr b="1" lang="en-US" sz="18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Personalized Learning Support</a:t>
                      </a:r>
                      <a:endParaRPr b="1" sz="18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91425" marL="91425" anchor="ctr">
                    <a:lnL cap="flat" cmpd="sng" w="12700">
                      <a:solidFill>
                        <a:srgbClr val="A64D7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A64D7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A64D7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A64D7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AD1D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8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Generate notes, quizzes, explanations, and topic recommendations.</a:t>
                      </a:r>
                      <a:endParaRPr sz="18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91425" marL="91425" anchor="ctr">
                    <a:lnL cap="flat" cmpd="sng" w="12700">
                      <a:solidFill>
                        <a:srgbClr val="A64D7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A64D7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A64D7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A64D7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AD1DC"/>
                    </a:solidFill>
                  </a:tcPr>
                </a:tc>
              </a:tr>
              <a:tr h="7868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imes New Roman"/>
                        <a:buNone/>
                      </a:pPr>
                      <a:r>
                        <a:rPr b="1" lang="en-US" sz="18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Improve Research Efficiency</a:t>
                      </a:r>
                      <a:endParaRPr b="1" sz="18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91425" marL="91425" anchor="ctr">
                    <a:lnL cap="flat" cmpd="sng" w="12700">
                      <a:solidFill>
                        <a:srgbClr val="A64D7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A64D7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A64D7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A64D7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AD1D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8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Reduce the time required to study and analyze large amounts of information.</a:t>
                      </a:r>
                      <a:endParaRPr sz="18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91425" marL="91425" anchor="ctr">
                    <a:lnL cap="flat" cmpd="sng" w="12700">
                      <a:solidFill>
                        <a:srgbClr val="A64D7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A64D7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A64D7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A64D7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AD1D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3f86946267d_2_39"/>
          <p:cNvSpPr txBox="1"/>
          <p:nvPr>
            <p:ph type="title"/>
          </p:nvPr>
        </p:nvSpPr>
        <p:spPr>
          <a:xfrm>
            <a:off x="2347473" y="232445"/>
            <a:ext cx="7361700" cy="81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315700">
            <a:spAutoFit/>
          </a:bodyPr>
          <a:lstStyle/>
          <a:p>
            <a:pPr indent="0" lvl="0" marL="136715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>
                <a:solidFill>
                  <a:srgbClr val="A64D79"/>
                </a:solidFill>
              </a:rPr>
              <a:t>LITERATURE SURVEY</a:t>
            </a:r>
            <a:endParaRPr>
              <a:solidFill>
                <a:srgbClr val="A64D79"/>
              </a:solidFill>
            </a:endParaRPr>
          </a:p>
        </p:txBody>
      </p:sp>
      <p:pic>
        <p:nvPicPr>
          <p:cNvPr id="129" name="Google Shape;129;g3f86946267d_2_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9920" y="96523"/>
            <a:ext cx="1135115" cy="1342882"/>
          </a:xfrm>
          <a:prstGeom prst="rect">
            <a:avLst/>
          </a:prstGeom>
          <a:noFill/>
          <a:ln>
            <a:noFill/>
          </a:ln>
        </p:spPr>
      </p:pic>
      <p:pic>
        <p:nvPicPr>
          <p:cNvPr id="130" name="Google Shape;130;g3f86946267d_2_3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486799" y="123206"/>
            <a:ext cx="1520112" cy="1342882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131" name="Google Shape;131;g3f86946267d_2_39"/>
          <p:cNvGraphicFramePr/>
          <p:nvPr/>
        </p:nvGraphicFramePr>
        <p:xfrm>
          <a:off x="238054" y="161548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{760D0122-9385-417B-9779-1DF5733CE175}</a:tableStyleId>
              </a:tblPr>
              <a:tblGrid>
                <a:gridCol w="731825"/>
                <a:gridCol w="2025250"/>
                <a:gridCol w="3586575"/>
                <a:gridCol w="2799425"/>
                <a:gridCol w="2563150"/>
              </a:tblGrid>
              <a:tr h="3048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US" sz="14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S.No</a:t>
                      </a:r>
                      <a:endParaRPr b="1" sz="14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 anchor="ctr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AD1D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US" sz="14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Author (Year)</a:t>
                      </a:r>
                      <a:endParaRPr b="1" sz="14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 anchor="ctr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AD1D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US" sz="14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Title</a:t>
                      </a:r>
                      <a:endParaRPr b="1" sz="14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 anchor="ctr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AD1D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US" sz="14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Methodology</a:t>
                      </a:r>
                      <a:endParaRPr b="1" sz="14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 anchor="ctr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AD1D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US" sz="14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Limitations</a:t>
                      </a:r>
                      <a:endParaRPr b="1" sz="14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 anchor="ctr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AD1DC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Arial"/>
                        <a:buNone/>
                      </a:pPr>
                      <a:r>
                        <a:rPr b="1" lang="en-US" sz="15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1</a:t>
                      </a:r>
                      <a:endParaRPr b="1" sz="15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 anchor="ctr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Arial"/>
                        <a:buNone/>
                      </a:pPr>
                      <a:r>
                        <a:rPr lang="en-US" sz="15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Z. Li </a:t>
                      </a:r>
                      <a:r>
                        <a:rPr i="1" lang="en-US" sz="15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et al.</a:t>
                      </a:r>
                      <a:r>
                        <a:rPr lang="en-US" sz="15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 (2025)</a:t>
                      </a:r>
                      <a:endParaRPr sz="15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 anchor="ctr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Arial"/>
                        <a:buNone/>
                      </a:pPr>
                      <a:r>
                        <a:rPr i="1" lang="en-US" sz="15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Retrieval-Augmented Generation for Educational Application: A Systematic Survey</a:t>
                      </a:r>
                      <a:endParaRPr i="1" sz="15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 anchor="ctr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Arial"/>
                        <a:buNone/>
                      </a:pPr>
                      <a:r>
                        <a:rPr lang="en-US" sz="15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Reviewed RAG methods for educational applications</a:t>
                      </a:r>
                      <a:endParaRPr sz="15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 anchor="ctr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Arial"/>
                        <a:buNone/>
                      </a:pPr>
                      <a:r>
                        <a:rPr lang="en-US" sz="15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Hallucination, retrieval quality, limited multimodality</a:t>
                      </a:r>
                      <a:endParaRPr sz="15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 anchor="ctr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Arial"/>
                        <a:buNone/>
                      </a:pPr>
                      <a:r>
                        <a:rPr b="1" lang="en-US" sz="15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2</a:t>
                      </a:r>
                      <a:endParaRPr b="1" sz="15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 anchor="ctr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Arial"/>
                        <a:buNone/>
                      </a:pPr>
                      <a:r>
                        <a:rPr lang="en-US" sz="15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S. Guizani </a:t>
                      </a:r>
                      <a:r>
                        <a:rPr i="1" lang="en-US" sz="15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et al.</a:t>
                      </a:r>
                      <a:r>
                        <a:rPr lang="en-US" sz="15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 (2025)</a:t>
                      </a:r>
                      <a:endParaRPr sz="15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 anchor="ctr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Arial"/>
                        <a:buNone/>
                      </a:pPr>
                      <a:r>
                        <a:rPr i="1" lang="en-US" sz="15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 Systematic Literature Review to Implement Large Language Model in Higher Education</a:t>
                      </a:r>
                      <a:endParaRPr i="1" sz="15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 anchor="ctr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Arial"/>
                        <a:buNone/>
                      </a:pPr>
                      <a:r>
                        <a:rPr lang="en-US" sz="15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Reviewed LLM applications, issues, and solutions in higher education</a:t>
                      </a:r>
                      <a:endParaRPr sz="15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 anchor="ctr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Arial"/>
                        <a:buNone/>
                      </a:pPr>
                      <a:r>
                        <a:rPr lang="en-US" sz="15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Privacy, reliability, ethics, implementation challenges</a:t>
                      </a:r>
                      <a:endParaRPr sz="15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 anchor="ctr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Arial"/>
                        <a:buNone/>
                      </a:pPr>
                      <a:r>
                        <a:rPr b="1" lang="en-US" sz="15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3</a:t>
                      </a:r>
                      <a:endParaRPr b="1" sz="15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 anchor="ctr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Arial"/>
                        <a:buNone/>
                      </a:pPr>
                      <a:r>
                        <a:rPr lang="en-US" sz="15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Y. Qian (2025)</a:t>
                      </a:r>
                      <a:endParaRPr sz="15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 anchor="ctr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Arial"/>
                        <a:buNone/>
                      </a:pPr>
                      <a:r>
                        <a:rPr i="1" lang="en-US" sz="15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Pedagogical Applications of Generative AI in Higher Education: A Systematic Review of the Field</a:t>
                      </a:r>
                      <a:endParaRPr i="1" sz="15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 anchor="ctr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Arial"/>
                        <a:buNone/>
                      </a:pPr>
                      <a:r>
                        <a:rPr lang="en-US" sz="15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Reviewed GenAI applications in higher education</a:t>
                      </a:r>
                      <a:endParaRPr sz="15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 anchor="ctr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Arial"/>
                        <a:buNone/>
                      </a:pPr>
                      <a:r>
                        <a:rPr lang="en-US" sz="15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Need for better evaluation and responsible use</a:t>
                      </a:r>
                      <a:endParaRPr sz="15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 anchor="ctr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Arial"/>
                        <a:buNone/>
                      </a:pPr>
                      <a:r>
                        <a:rPr b="1" lang="en-US" sz="15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4</a:t>
                      </a:r>
                      <a:endParaRPr b="1" sz="15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 anchor="ctr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Arial"/>
                        <a:buNone/>
                      </a:pPr>
                      <a:r>
                        <a:rPr lang="en-US" sz="15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L. Fan </a:t>
                      </a:r>
                      <a:r>
                        <a:rPr i="1" lang="en-US" sz="15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et al.</a:t>
                      </a:r>
                      <a:r>
                        <a:rPr lang="en-US" sz="15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 (2025)</a:t>
                      </a:r>
                      <a:endParaRPr sz="15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 anchor="ctr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Arial"/>
                        <a:buNone/>
                      </a:pPr>
                      <a:r>
                        <a:rPr i="1" lang="en-US" sz="15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Educational Impacts of Generative Artificial Intelligence on Learning and Performance of Engineering Students in China</a:t>
                      </a:r>
                      <a:endParaRPr i="1" sz="15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 anchor="ctr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Arial"/>
                        <a:buNone/>
                      </a:pPr>
                      <a:r>
                        <a:rPr lang="en-US" sz="15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Surveyed 148 engineering students on GenAI use and learning impact</a:t>
                      </a:r>
                      <a:endParaRPr sz="15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 anchor="ctr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Arial"/>
                        <a:buNone/>
                      </a:pPr>
                      <a:r>
                        <a:rPr lang="en-US" sz="15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Limited sample and regional focus</a:t>
                      </a:r>
                      <a:endParaRPr sz="15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 anchor="ctr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Arial"/>
                        <a:buNone/>
                      </a:pPr>
                      <a:r>
                        <a:rPr b="1" lang="en-US" sz="15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5</a:t>
                      </a:r>
                      <a:endParaRPr b="1" sz="15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 anchor="ctr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Arial"/>
                        <a:buNone/>
                      </a:pPr>
                      <a:r>
                        <a:rPr lang="en-US" sz="15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Z. Li </a:t>
                      </a:r>
                      <a:r>
                        <a:rPr i="1" lang="en-US" sz="15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et al.</a:t>
                      </a:r>
                      <a:r>
                        <a:rPr lang="en-US" sz="15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 (2026)</a:t>
                      </a:r>
                      <a:endParaRPr sz="15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 anchor="ctr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Arial"/>
                        <a:buNone/>
                      </a:pPr>
                      <a:r>
                        <a:rPr i="1" lang="en-US" sz="15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Large Language Models in Education: A Systematic Review of Empirical Applications, Benefits, and Challenges</a:t>
                      </a:r>
                      <a:endParaRPr i="1" sz="15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 anchor="ctr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Arial"/>
                        <a:buNone/>
                      </a:pPr>
                      <a:r>
                        <a:rPr lang="en-US" sz="15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Reviewed 88 empirical LLM studies in education</a:t>
                      </a:r>
                      <a:endParaRPr sz="15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 anchor="ctr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Arial"/>
                        <a:buNone/>
                      </a:pPr>
                      <a:r>
                        <a:rPr lang="en-US" sz="15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Over-reliance, privacy, fairness, and technical reliability</a:t>
                      </a:r>
                      <a:endParaRPr sz="15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 anchor="ctr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g3f86946267d_2_46"/>
          <p:cNvSpPr txBox="1"/>
          <p:nvPr>
            <p:ph type="title"/>
          </p:nvPr>
        </p:nvSpPr>
        <p:spPr>
          <a:xfrm>
            <a:off x="2347473" y="232445"/>
            <a:ext cx="7361700" cy="81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315700">
            <a:spAutoFit/>
          </a:bodyPr>
          <a:lstStyle/>
          <a:p>
            <a:pPr indent="0" lvl="0" marL="136715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>
                <a:solidFill>
                  <a:srgbClr val="A64D79"/>
                </a:solidFill>
              </a:rPr>
              <a:t>PROBLEM STATEMENT</a:t>
            </a:r>
            <a:endParaRPr>
              <a:solidFill>
                <a:srgbClr val="A64D79"/>
              </a:solidFill>
            </a:endParaRPr>
          </a:p>
        </p:txBody>
      </p:sp>
      <p:pic>
        <p:nvPicPr>
          <p:cNvPr id="137" name="Google Shape;137;g3f86946267d_2_4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9920" y="173338"/>
            <a:ext cx="1135115" cy="1342882"/>
          </a:xfrm>
          <a:prstGeom prst="rect">
            <a:avLst/>
          </a:prstGeom>
          <a:noFill/>
          <a:ln>
            <a:noFill/>
          </a:ln>
        </p:spPr>
      </p:pic>
      <p:pic>
        <p:nvPicPr>
          <p:cNvPr id="138" name="Google Shape;138;g3f86946267d_2_4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486799" y="173338"/>
            <a:ext cx="1520112" cy="1342882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g3f86946267d_2_46"/>
          <p:cNvSpPr txBox="1"/>
          <p:nvPr>
            <p:ph idx="12" type="sldNum"/>
          </p:nvPr>
        </p:nvSpPr>
        <p:spPr>
          <a:xfrm>
            <a:off x="11276659" y="6467792"/>
            <a:ext cx="2052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38100" rtl="0" algn="l">
              <a:lnSpc>
                <a:spcPct val="103333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40" name="Google Shape;140;g3f86946267d_2_46"/>
          <p:cNvSpPr/>
          <p:nvPr/>
        </p:nvSpPr>
        <p:spPr>
          <a:xfrm flipH="1">
            <a:off x="287781" y="1938625"/>
            <a:ext cx="6897600" cy="41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61950" lvl="0" marL="45720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</a:pPr>
            <a:r>
              <a:rPr b="0" i="0" lang="en-US" sz="21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Engineering students handle large amounts of study and research material.</a:t>
            </a:r>
            <a:endParaRPr b="0" i="0" sz="21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61950" lvl="0" marL="45720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</a:pPr>
            <a:r>
              <a:rPr b="0" i="0" lang="en-US" sz="21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Important information is scattered across different formats and documents.</a:t>
            </a:r>
            <a:endParaRPr b="0" i="0" sz="21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61950" lvl="0" marL="45720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</a:pPr>
            <a:r>
              <a:rPr b="0" i="0" lang="en-US" sz="21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Finding, comparing, and understanding relevant information is time-consuming.</a:t>
            </a:r>
            <a:endParaRPr b="0" i="0" sz="21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61950" lvl="0" marL="45720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</a:pPr>
            <a:r>
              <a:rPr b="0" i="0" lang="en-US" sz="21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Existing tools often focus on a single format or provide only basic summarization.</a:t>
            </a:r>
            <a:endParaRPr b="0" i="0" sz="21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61950" lvl="0" marL="45720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</a:pPr>
            <a:r>
              <a:rPr b="0" i="0" lang="en-US" sz="21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Students need one system that can analyze multiple sources and provide useful study and research support.</a:t>
            </a:r>
            <a:endParaRPr b="0" i="0" sz="21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141" name="Google Shape;141;g3f86946267d_2_4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337781" y="1668620"/>
            <a:ext cx="4646772" cy="464677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6" name="Google Shape;146;g3f86946267d_2_55"/>
          <p:cNvPicPr preferRelativeResize="0"/>
          <p:nvPr/>
        </p:nvPicPr>
        <p:blipFill rotWithShape="1">
          <a:blip r:embed="rId3">
            <a:alphaModFix/>
          </a:blip>
          <a:srcRect b="14141" l="0" r="0" t="0"/>
          <a:stretch/>
        </p:blipFill>
        <p:spPr>
          <a:xfrm>
            <a:off x="410675" y="1272925"/>
            <a:ext cx="11156349" cy="5390949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g3f86946267d_2_55"/>
          <p:cNvSpPr txBox="1"/>
          <p:nvPr>
            <p:ph type="title"/>
          </p:nvPr>
        </p:nvSpPr>
        <p:spPr>
          <a:xfrm>
            <a:off x="1410171" y="377716"/>
            <a:ext cx="8946900" cy="5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7600">
            <a:spAutoFit/>
          </a:bodyPr>
          <a:lstStyle/>
          <a:p>
            <a:pPr indent="-1661160" lvl="0" marL="2074545" marR="5080" rtl="0" algn="ctr">
              <a:lnSpc>
                <a:spcPct val="1010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>
                <a:solidFill>
                  <a:srgbClr val="A64D79"/>
                </a:solidFill>
              </a:rPr>
              <a:t>SYSTEM ARCHITECTURE</a:t>
            </a:r>
            <a:endParaRPr>
              <a:solidFill>
                <a:srgbClr val="A64D79"/>
              </a:solidFill>
            </a:endParaRPr>
          </a:p>
        </p:txBody>
      </p:sp>
      <p:pic>
        <p:nvPicPr>
          <p:cNvPr id="148" name="Google Shape;148;g3f86946267d_2_5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57352" y="191626"/>
            <a:ext cx="1135115" cy="134288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g3f86946267d_2_5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514231" y="191626"/>
            <a:ext cx="1520112" cy="1342882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g3f86946267d_2_55"/>
          <p:cNvSpPr txBox="1"/>
          <p:nvPr>
            <p:ph idx="12" type="sldNum"/>
          </p:nvPr>
        </p:nvSpPr>
        <p:spPr>
          <a:xfrm>
            <a:off x="11304091" y="6486080"/>
            <a:ext cx="205104" cy="17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38100" rtl="0" algn="l">
              <a:lnSpc>
                <a:spcPct val="103333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Sp="0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5" name="Google Shape;155;g3f86946267d_2_6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352" y="191626"/>
            <a:ext cx="1135115" cy="1342882"/>
          </a:xfrm>
          <a:prstGeom prst="rect">
            <a:avLst/>
          </a:prstGeom>
          <a:noFill/>
          <a:ln>
            <a:noFill/>
          </a:ln>
        </p:spPr>
      </p:pic>
      <p:pic>
        <p:nvPicPr>
          <p:cNvPr id="156" name="Google Shape;156;g3f86946267d_2_6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514231" y="191626"/>
            <a:ext cx="1520112" cy="1342882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g3f86946267d_2_63"/>
          <p:cNvSpPr txBox="1"/>
          <p:nvPr>
            <p:ph idx="12" type="sldNum"/>
          </p:nvPr>
        </p:nvSpPr>
        <p:spPr>
          <a:xfrm>
            <a:off x="11304091" y="6486080"/>
            <a:ext cx="205104" cy="17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38100" rtl="0" algn="l">
              <a:lnSpc>
                <a:spcPct val="103333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58" name="Google Shape;158;g3f86946267d_2_63"/>
          <p:cNvSpPr txBox="1"/>
          <p:nvPr/>
        </p:nvSpPr>
        <p:spPr>
          <a:xfrm>
            <a:off x="1600200" y="304800"/>
            <a:ext cx="8763000" cy="107721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b="1" i="0" lang="en-US" sz="32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MODULE – 1</a:t>
            </a:r>
            <a:br>
              <a:rPr b="1" i="0" lang="en-US" sz="32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b="1" i="0" lang="en-US" sz="3200" u="none" cap="none" strike="noStrike">
                <a:solidFill>
                  <a:srgbClr val="A64D79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Multimodal Input &amp; Document Processing</a:t>
            </a:r>
            <a:endParaRPr b="0" i="0" sz="1400" u="none" cap="none" strike="noStrike">
              <a:solidFill>
                <a:srgbClr val="A64D7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" name="Google Shape;159;g3f86946267d_2_63"/>
          <p:cNvSpPr txBox="1"/>
          <p:nvPr/>
        </p:nvSpPr>
        <p:spPr>
          <a:xfrm>
            <a:off x="219241" y="1854669"/>
            <a:ext cx="6960900" cy="4556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just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2000" u="none" cap="none" strike="noStrike">
                <a:solidFill>
                  <a:srgbClr val="A64D79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Purpose</a:t>
            </a:r>
            <a:r>
              <a:rPr b="1" i="0" lang="en-US" sz="20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: </a:t>
            </a:r>
            <a:r>
              <a:rPr b="0" i="0" lang="en-US" sz="20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To collect and process academic and research materials from different formats.</a:t>
            </a:r>
            <a:endParaRPr b="0" i="0" sz="20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just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2000" u="none" cap="none" strike="noStrike">
                <a:solidFill>
                  <a:srgbClr val="A64D79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Key Points</a:t>
            </a:r>
            <a:r>
              <a:rPr b="1" i="0" lang="en-US" sz="20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:</a:t>
            </a:r>
            <a:endParaRPr b="1" i="0" sz="20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98450" lvl="0" marL="457200" marR="0" rtl="0" algn="l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●"/>
            </a:pPr>
            <a:r>
              <a:rPr b="0" i="0" lang="en-US" sz="20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Accepts PDFs, papers, images, notes, and documents.</a:t>
            </a:r>
            <a:endParaRPr b="0" i="0" sz="20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98450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●"/>
            </a:pPr>
            <a:r>
              <a:rPr b="0" i="0" lang="en-US" sz="20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Extracts text, tables, figures, and equations.</a:t>
            </a:r>
            <a:endParaRPr b="0" i="0" sz="20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98450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●"/>
            </a:pPr>
            <a:r>
              <a:rPr b="0" i="0" lang="en-US" sz="20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Cleans and organizes the extracted information.</a:t>
            </a:r>
            <a:endParaRPr b="0" i="0" sz="20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98450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●"/>
            </a:pPr>
            <a:r>
              <a:rPr b="0" i="0" lang="en-US" sz="20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Stores processed content for further analysis.</a:t>
            </a:r>
            <a:endParaRPr b="0" i="0" sz="20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just">
              <a:lnSpc>
                <a:spcPct val="150000"/>
              </a:lnSpc>
              <a:spcBef>
                <a:spcPts val="1200"/>
              </a:spcBef>
              <a:spcAft>
                <a:spcPts val="120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2000" u="none" cap="none" strike="noStrike">
                <a:solidFill>
                  <a:srgbClr val="A64D79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Outcome</a:t>
            </a:r>
            <a:r>
              <a:rPr b="1" i="0" lang="en-US" sz="20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: </a:t>
            </a:r>
            <a:r>
              <a:rPr b="0" i="0" lang="en-US" sz="20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 structured collection of multimodal academic content ready for retrieval and analysis.</a:t>
            </a:r>
            <a:endParaRPr b="0" i="0" sz="20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160" name="Google Shape;160;g3f86946267d_2_6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332541" y="1686908"/>
            <a:ext cx="4646772" cy="464677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5" name="Google Shape;165;g3f86946267d_2_7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352" y="191626"/>
            <a:ext cx="1135115" cy="1342882"/>
          </a:xfrm>
          <a:prstGeom prst="rect">
            <a:avLst/>
          </a:prstGeom>
          <a:noFill/>
          <a:ln>
            <a:noFill/>
          </a:ln>
        </p:spPr>
      </p:pic>
      <p:pic>
        <p:nvPicPr>
          <p:cNvPr id="166" name="Google Shape;166;g3f86946267d_2_7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514231" y="191626"/>
            <a:ext cx="1520112" cy="1342882"/>
          </a:xfrm>
          <a:prstGeom prst="rect">
            <a:avLst/>
          </a:prstGeom>
          <a:noFill/>
          <a:ln>
            <a:noFill/>
          </a:ln>
        </p:spPr>
      </p:pic>
      <p:sp>
        <p:nvSpPr>
          <p:cNvPr id="167" name="Google Shape;167;g3f86946267d_2_72"/>
          <p:cNvSpPr txBox="1"/>
          <p:nvPr>
            <p:ph idx="12" type="sldNum"/>
          </p:nvPr>
        </p:nvSpPr>
        <p:spPr>
          <a:xfrm>
            <a:off x="11304091" y="6486080"/>
            <a:ext cx="2052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38100" rtl="0" algn="l">
              <a:lnSpc>
                <a:spcPct val="103333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68" name="Google Shape;168;g3f86946267d_2_72"/>
          <p:cNvSpPr txBox="1"/>
          <p:nvPr/>
        </p:nvSpPr>
        <p:spPr>
          <a:xfrm>
            <a:off x="1600200" y="304800"/>
            <a:ext cx="8763000" cy="1077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b="1" i="0" lang="en-US" sz="32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MODULE – 2</a:t>
            </a:r>
            <a:br>
              <a:rPr b="1" i="0" lang="en-US" sz="32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b="1" i="0" lang="en-US" sz="3200" u="none" cap="none" strike="noStrike">
                <a:solidFill>
                  <a:srgbClr val="A64D79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Multimodal Knowledge &amp; Retrieval</a:t>
            </a:r>
            <a:endParaRPr b="1" i="0" sz="3200" u="none" cap="none" strike="noStrike">
              <a:solidFill>
                <a:srgbClr val="A64D79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69" name="Google Shape;169;g3f86946267d_2_72"/>
          <p:cNvSpPr txBox="1"/>
          <p:nvPr/>
        </p:nvSpPr>
        <p:spPr>
          <a:xfrm>
            <a:off x="252662" y="1972506"/>
            <a:ext cx="6960900" cy="4556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just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2000" u="none" cap="none" strike="noStrike">
                <a:solidFill>
                  <a:srgbClr val="A64D79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Purpose</a:t>
            </a:r>
            <a:r>
              <a:rPr b="1" i="0" lang="en-US" sz="20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: </a:t>
            </a:r>
            <a:r>
              <a:rPr b="0" i="0" lang="en-US" sz="20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To create a searchable knowledge base from the processed materials.</a:t>
            </a:r>
            <a:endParaRPr b="0" i="0" sz="20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just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2000" u="none" cap="none" strike="noStrike">
                <a:solidFill>
                  <a:srgbClr val="A64D79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Key Points</a:t>
            </a:r>
            <a:r>
              <a:rPr b="1" i="0" lang="en-US" sz="20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:</a:t>
            </a:r>
            <a:endParaRPr b="1" i="0" sz="20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98450" lvl="0" marL="457200" marR="0" rtl="0" algn="l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●"/>
            </a:pPr>
            <a:r>
              <a:rPr b="0" i="0" lang="en-US" sz="20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Creates representations of the collected content.</a:t>
            </a:r>
            <a:endParaRPr b="0" i="0" sz="20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98450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●"/>
            </a:pPr>
            <a:r>
              <a:rPr b="0" i="0" lang="en-US" sz="20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Retrieves relevant information based on user queries.</a:t>
            </a:r>
            <a:endParaRPr b="0" i="0" sz="20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98450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●"/>
            </a:pPr>
            <a:r>
              <a:rPr b="0" i="0" lang="en-US" sz="20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Connects related information across multiple sources.</a:t>
            </a:r>
            <a:endParaRPr b="0" i="0" sz="20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98450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●"/>
            </a:pPr>
            <a:r>
              <a:rPr b="0" i="0" lang="en-US" sz="20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Provides relevant context to the AI.</a:t>
            </a:r>
            <a:endParaRPr b="0" i="0" sz="20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just">
              <a:lnSpc>
                <a:spcPct val="150000"/>
              </a:lnSpc>
              <a:spcBef>
                <a:spcPts val="1200"/>
              </a:spcBef>
              <a:spcAft>
                <a:spcPts val="120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2000" u="none" cap="none" strike="noStrike">
                <a:solidFill>
                  <a:srgbClr val="A64D79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Outcome</a:t>
            </a:r>
            <a:r>
              <a:rPr b="1" i="0" lang="en-US" sz="20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: </a:t>
            </a:r>
            <a:r>
              <a:rPr b="0" i="0" lang="en-US" sz="20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Relevant and contextual information is retrieved for accurate AI analysis.</a:t>
            </a:r>
            <a:endParaRPr b="0" i="0" sz="20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170" name="Google Shape;170;g3f86946267d_2_72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365962" y="1686908"/>
            <a:ext cx="4646772" cy="464677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Sp="0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5" name="Google Shape;175;g3f86946267d_2_8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352" y="191626"/>
            <a:ext cx="1135115" cy="1342882"/>
          </a:xfrm>
          <a:prstGeom prst="rect">
            <a:avLst/>
          </a:prstGeom>
          <a:noFill/>
          <a:ln>
            <a:noFill/>
          </a:ln>
        </p:spPr>
      </p:pic>
      <p:pic>
        <p:nvPicPr>
          <p:cNvPr id="176" name="Google Shape;176;g3f86946267d_2_8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514231" y="191626"/>
            <a:ext cx="1520112" cy="1342882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g3f86946267d_2_81"/>
          <p:cNvSpPr txBox="1"/>
          <p:nvPr>
            <p:ph idx="12" type="sldNum"/>
          </p:nvPr>
        </p:nvSpPr>
        <p:spPr>
          <a:xfrm>
            <a:off x="11304091" y="6486080"/>
            <a:ext cx="2052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38100" rtl="0" algn="l">
              <a:lnSpc>
                <a:spcPct val="103333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78" name="Google Shape;178;g3f86946267d_2_81"/>
          <p:cNvSpPr txBox="1"/>
          <p:nvPr/>
        </p:nvSpPr>
        <p:spPr>
          <a:xfrm>
            <a:off x="1600200" y="304800"/>
            <a:ext cx="8763000" cy="1077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b="1" i="0" lang="en-US" sz="32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MODULE – 3</a:t>
            </a:r>
            <a:br>
              <a:rPr b="1" i="0" lang="en-US" sz="32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b="1" i="0" lang="en-US" sz="3200" u="none" cap="none" strike="noStrike">
                <a:solidFill>
                  <a:srgbClr val="A64D79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Research &amp; Study Analysis</a:t>
            </a:r>
            <a:endParaRPr b="0" i="0" sz="1400" u="none" cap="none" strike="noStrike">
              <a:solidFill>
                <a:srgbClr val="A64D7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g3f86946267d_2_81"/>
          <p:cNvSpPr txBox="1"/>
          <p:nvPr/>
        </p:nvSpPr>
        <p:spPr>
          <a:xfrm>
            <a:off x="291200" y="1818597"/>
            <a:ext cx="6603300" cy="4556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just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2000" u="none" cap="none" strike="noStrike">
                <a:solidFill>
                  <a:srgbClr val="A64D79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Purpose</a:t>
            </a:r>
            <a:r>
              <a:rPr b="1" i="0" lang="en-US" sz="20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: </a:t>
            </a:r>
            <a:r>
              <a:rPr b="0" i="0" lang="en-US" sz="20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To analyze retrieved information and generate meaningful academic insights.</a:t>
            </a:r>
            <a:endParaRPr b="0" i="0" sz="20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just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2000" u="none" cap="none" strike="noStrike">
                <a:solidFill>
                  <a:srgbClr val="A64D79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Key Points</a:t>
            </a:r>
            <a:r>
              <a:rPr b="1" i="0" lang="en-US" sz="20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:</a:t>
            </a:r>
            <a:endParaRPr b="1" i="0" sz="20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98450" lvl="0" marL="457200" marR="0" rtl="0" algn="l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●"/>
            </a:pPr>
            <a:r>
              <a:rPr b="0" i="0" lang="en-US" sz="20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Summarizes research papers and study materials.</a:t>
            </a:r>
            <a:endParaRPr b="0" i="0" sz="20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98450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●"/>
            </a:pPr>
            <a:r>
              <a:rPr b="0" i="0" lang="en-US" sz="20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Compares concepts and multiple research papers.</a:t>
            </a:r>
            <a:endParaRPr b="0" i="0" sz="20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98450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●"/>
            </a:pPr>
            <a:r>
              <a:rPr b="0" i="0" lang="en-US" sz="20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Identifies findings, methodologies, and research gaps.</a:t>
            </a:r>
            <a:endParaRPr b="0" i="0" sz="20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98450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●"/>
            </a:pPr>
            <a:r>
              <a:rPr b="0" i="0" lang="en-US" sz="20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Answers questions using the retrieved sources.</a:t>
            </a:r>
            <a:endParaRPr b="0" i="0" sz="20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just">
              <a:lnSpc>
                <a:spcPct val="150000"/>
              </a:lnSpc>
              <a:spcBef>
                <a:spcPts val="1200"/>
              </a:spcBef>
              <a:spcAft>
                <a:spcPts val="120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2000" u="none" cap="none" strike="noStrike">
                <a:solidFill>
                  <a:srgbClr val="A64D79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Outcome</a:t>
            </a:r>
            <a:r>
              <a:rPr b="1" i="0" lang="en-US" sz="20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: </a:t>
            </a:r>
            <a:r>
              <a:rPr b="0" i="0" lang="en-US" sz="20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Students receive clear, source-based analysis of their study and research materials.</a:t>
            </a:r>
            <a:endParaRPr b="0" i="0" sz="20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180" name="Google Shape;180;g3f86946267d_2_81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046976" y="1686908"/>
            <a:ext cx="4646772" cy="464677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Sp="0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5" name="Google Shape;185;g3f86946267d_2_9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352" y="191626"/>
            <a:ext cx="1135115" cy="1342882"/>
          </a:xfrm>
          <a:prstGeom prst="rect">
            <a:avLst/>
          </a:prstGeom>
          <a:noFill/>
          <a:ln>
            <a:noFill/>
          </a:ln>
        </p:spPr>
      </p:pic>
      <p:pic>
        <p:nvPicPr>
          <p:cNvPr id="186" name="Google Shape;186;g3f86946267d_2_9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514231" y="191626"/>
            <a:ext cx="1520112" cy="1342882"/>
          </a:xfrm>
          <a:prstGeom prst="rect">
            <a:avLst/>
          </a:prstGeom>
          <a:noFill/>
          <a:ln>
            <a:noFill/>
          </a:ln>
        </p:spPr>
      </p:pic>
      <p:sp>
        <p:nvSpPr>
          <p:cNvPr id="187" name="Google Shape;187;g3f86946267d_2_90"/>
          <p:cNvSpPr txBox="1"/>
          <p:nvPr>
            <p:ph idx="12" type="sldNum"/>
          </p:nvPr>
        </p:nvSpPr>
        <p:spPr>
          <a:xfrm>
            <a:off x="11304091" y="6486080"/>
            <a:ext cx="2052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38100" rtl="0" algn="l">
              <a:lnSpc>
                <a:spcPct val="103333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88" name="Google Shape;188;g3f86946267d_2_90"/>
          <p:cNvSpPr txBox="1"/>
          <p:nvPr/>
        </p:nvSpPr>
        <p:spPr>
          <a:xfrm>
            <a:off x="1600200" y="304800"/>
            <a:ext cx="8763000" cy="1077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b="1" i="0" lang="en-US" sz="32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MODULE – 4</a:t>
            </a:r>
            <a:br>
              <a:rPr b="1" i="0" lang="en-US" sz="32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b="1" i="0" lang="en-US" sz="3200" u="none" cap="none" strike="noStrike">
                <a:solidFill>
                  <a:srgbClr val="A64D79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Personalized Learning &amp; Research Support</a:t>
            </a:r>
            <a:endParaRPr b="0" i="0" sz="1400" u="none" cap="none" strike="noStrike">
              <a:solidFill>
                <a:srgbClr val="A64D7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g3f86946267d_2_90"/>
          <p:cNvSpPr txBox="1"/>
          <p:nvPr/>
        </p:nvSpPr>
        <p:spPr>
          <a:xfrm>
            <a:off x="348208" y="1785104"/>
            <a:ext cx="6857400" cy="4556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just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2000" u="none" cap="none" strike="noStrike">
                <a:solidFill>
                  <a:srgbClr val="A64D79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Purpose</a:t>
            </a:r>
            <a:r>
              <a:rPr b="1" i="0" lang="en-US" sz="20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: </a:t>
            </a:r>
            <a:r>
              <a:rPr b="0" i="0" lang="en-US" sz="20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To convert AI analysis into useful learning and research outputs.</a:t>
            </a:r>
            <a:endParaRPr b="0" i="0" sz="20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just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2000" u="none" cap="none" strike="noStrike">
                <a:solidFill>
                  <a:srgbClr val="A64D79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Key Points</a:t>
            </a:r>
            <a:r>
              <a:rPr b="1" i="0" lang="en-US" sz="20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:</a:t>
            </a:r>
            <a:endParaRPr b="1" i="0" sz="20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98450" lvl="0" marL="457200" marR="0" rtl="0" algn="l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●"/>
            </a:pPr>
            <a:r>
              <a:rPr b="0" i="0" lang="en-US" sz="20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Generates concise study notes and explanations.</a:t>
            </a:r>
            <a:endParaRPr b="0" i="0" sz="20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98450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●"/>
            </a:pPr>
            <a:r>
              <a:rPr b="0" i="0" lang="en-US" sz="20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Creates quizzes and practice questions.</a:t>
            </a:r>
            <a:endParaRPr b="0" i="0" sz="20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98450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●"/>
            </a:pPr>
            <a:r>
              <a:rPr b="0" i="0" lang="en-US" sz="20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Recommends important topics for revision.</a:t>
            </a:r>
            <a:endParaRPr b="0" i="0" sz="20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98450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●"/>
            </a:pPr>
            <a:r>
              <a:rPr b="0" i="0" lang="en-US" sz="20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Generates structured research summaries and reports.</a:t>
            </a:r>
            <a:endParaRPr b="0" i="0" sz="20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just">
              <a:lnSpc>
                <a:spcPct val="150000"/>
              </a:lnSpc>
              <a:spcBef>
                <a:spcPts val="1200"/>
              </a:spcBef>
              <a:spcAft>
                <a:spcPts val="120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2000" u="none" cap="none" strike="noStrike">
                <a:solidFill>
                  <a:srgbClr val="A64D79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Outcome</a:t>
            </a:r>
            <a:r>
              <a:rPr b="1" i="0" lang="en-US" sz="20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: </a:t>
            </a:r>
            <a:r>
              <a:rPr b="0" i="0" lang="en-US" sz="20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Students receive personalized resources that support both learning and research.</a:t>
            </a:r>
            <a:endParaRPr b="0" i="0" sz="20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190" name="Google Shape;190;g3f86946267d_2_9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357872" y="1686908"/>
            <a:ext cx="4646772" cy="464677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g3f9b3160951_0_1"/>
          <p:cNvSpPr txBox="1"/>
          <p:nvPr>
            <p:ph type="title"/>
          </p:nvPr>
        </p:nvSpPr>
        <p:spPr>
          <a:xfrm>
            <a:off x="2286000" y="304800"/>
            <a:ext cx="7361700" cy="81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315700">
            <a:spAutoFit/>
          </a:bodyPr>
          <a:lstStyle/>
          <a:p>
            <a:pPr indent="0" lvl="0" marL="29845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>
                <a:solidFill>
                  <a:srgbClr val="A64D79"/>
                </a:solidFill>
              </a:rPr>
              <a:t>DASHBOARD</a:t>
            </a:r>
            <a:endParaRPr>
              <a:solidFill>
                <a:srgbClr val="A64D79"/>
              </a:solidFill>
            </a:endParaRPr>
          </a:p>
        </p:txBody>
      </p:sp>
      <p:pic>
        <p:nvPicPr>
          <p:cNvPr id="196" name="Google Shape;196;g3f9b3160951_0_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352" y="191626"/>
            <a:ext cx="1135115" cy="1342882"/>
          </a:xfrm>
          <a:prstGeom prst="rect">
            <a:avLst/>
          </a:prstGeom>
          <a:noFill/>
          <a:ln>
            <a:noFill/>
          </a:ln>
        </p:spPr>
      </p:pic>
      <p:pic>
        <p:nvPicPr>
          <p:cNvPr id="197" name="Google Shape;197;g3f9b3160951_0_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514231" y="191626"/>
            <a:ext cx="1520112" cy="1342882"/>
          </a:xfrm>
          <a:prstGeom prst="rect">
            <a:avLst/>
          </a:prstGeom>
          <a:noFill/>
          <a:ln>
            <a:noFill/>
          </a:ln>
        </p:spPr>
      </p:pic>
      <p:sp>
        <p:nvSpPr>
          <p:cNvPr id="198" name="Google Shape;198;g3f9b3160951_0_1"/>
          <p:cNvSpPr txBox="1"/>
          <p:nvPr>
            <p:ph idx="12" type="sldNum"/>
          </p:nvPr>
        </p:nvSpPr>
        <p:spPr>
          <a:xfrm>
            <a:off x="11304091" y="6486080"/>
            <a:ext cx="2052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38100" rtl="0" algn="l">
              <a:lnSpc>
                <a:spcPct val="103333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3be5054b97e_3_206"/>
          <p:cNvSpPr txBox="1"/>
          <p:nvPr>
            <p:ph type="title"/>
          </p:nvPr>
        </p:nvSpPr>
        <p:spPr>
          <a:xfrm>
            <a:off x="2286000" y="304800"/>
            <a:ext cx="7361700" cy="81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315700">
            <a:spAutoFit/>
          </a:bodyPr>
          <a:lstStyle/>
          <a:p>
            <a:pPr indent="0" lvl="0" marL="29845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>
                <a:solidFill>
                  <a:srgbClr val="A64D79"/>
                </a:solidFill>
              </a:rPr>
              <a:t>RESULT &amp; DISCUSSION</a:t>
            </a:r>
            <a:endParaRPr>
              <a:solidFill>
                <a:srgbClr val="A64D79"/>
              </a:solidFill>
            </a:endParaRPr>
          </a:p>
        </p:txBody>
      </p:sp>
      <p:pic>
        <p:nvPicPr>
          <p:cNvPr id="204" name="Google Shape;204;g3be5054b97e_3_20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352" y="191626"/>
            <a:ext cx="1135115" cy="1342882"/>
          </a:xfrm>
          <a:prstGeom prst="rect">
            <a:avLst/>
          </a:prstGeom>
          <a:noFill/>
          <a:ln>
            <a:noFill/>
          </a:ln>
        </p:spPr>
      </p:pic>
      <p:pic>
        <p:nvPicPr>
          <p:cNvPr id="205" name="Google Shape;205;g3be5054b97e_3_20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514231" y="191626"/>
            <a:ext cx="1520112" cy="1342882"/>
          </a:xfrm>
          <a:prstGeom prst="rect">
            <a:avLst/>
          </a:prstGeom>
          <a:noFill/>
          <a:ln>
            <a:noFill/>
          </a:ln>
        </p:spPr>
      </p:pic>
      <p:sp>
        <p:nvSpPr>
          <p:cNvPr id="206" name="Google Shape;206;g3be5054b97e_3_206"/>
          <p:cNvSpPr txBox="1"/>
          <p:nvPr>
            <p:ph idx="12" type="sldNum"/>
          </p:nvPr>
        </p:nvSpPr>
        <p:spPr>
          <a:xfrm>
            <a:off x="11304091" y="6486080"/>
            <a:ext cx="205104" cy="17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38100" rtl="0" algn="l">
              <a:lnSpc>
                <a:spcPct val="103333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7" name="Google Shape;207;g3be5054b97e_3_206"/>
          <p:cNvSpPr/>
          <p:nvPr/>
        </p:nvSpPr>
        <p:spPr>
          <a:xfrm>
            <a:off x="789175" y="1795300"/>
            <a:ext cx="10195200" cy="4549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55600" lvl="0" marL="4572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imes New Roman"/>
              <a:buChar char="●"/>
            </a:pPr>
            <a:r>
              <a:rPr lang="en-US" sz="20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Successfully combines PDFs, research papers, images, notes, and documents into one analysis workflow.</a:t>
            </a:r>
            <a:endParaRPr sz="20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55600" lvl="0" marL="4572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imes New Roman"/>
              <a:buChar char="●"/>
            </a:pPr>
            <a:r>
              <a:rPr lang="en-US" sz="20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Retrieves relevant information and provides context-aware AI responses using multimodal processing and RAG.</a:t>
            </a:r>
            <a:endParaRPr sz="20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55600" lvl="0" marL="4572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imes New Roman"/>
              <a:buChar char="●"/>
            </a:pPr>
            <a:r>
              <a:rPr lang="en-US" sz="20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Generates useful outputs including summaries, explanations, paper comparisons, and research gap insights.</a:t>
            </a:r>
            <a:endParaRPr sz="20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55600" lvl="0" marL="4572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imes New Roman"/>
              <a:buChar char="●"/>
            </a:pPr>
            <a:r>
              <a:rPr lang="en-US" sz="20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Supports personalized learning through study notes, quizzes, important topics, and research summaries.</a:t>
            </a:r>
            <a:endParaRPr sz="20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55600" lvl="0" marL="4572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imes New Roman"/>
              <a:buChar char="●"/>
            </a:pPr>
            <a:r>
              <a:rPr lang="en-US" sz="20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Provides a unified platform that can reduce research time and improve the overall study experience for engineering students.</a:t>
            </a:r>
            <a:endParaRPr sz="20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g3be5054b97e_3_222"/>
          <p:cNvSpPr txBox="1"/>
          <p:nvPr>
            <p:ph type="title"/>
          </p:nvPr>
        </p:nvSpPr>
        <p:spPr>
          <a:xfrm>
            <a:off x="2286000" y="304800"/>
            <a:ext cx="7361700" cy="81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315700">
            <a:spAutoFit/>
          </a:bodyPr>
          <a:lstStyle/>
          <a:p>
            <a:pPr indent="0" lvl="0" marL="29845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>
                <a:solidFill>
                  <a:srgbClr val="A64D79"/>
                </a:solidFill>
              </a:rPr>
              <a:t>CONCLUSION</a:t>
            </a:r>
            <a:endParaRPr>
              <a:solidFill>
                <a:srgbClr val="A64D79"/>
              </a:solidFill>
            </a:endParaRPr>
          </a:p>
        </p:txBody>
      </p:sp>
      <p:pic>
        <p:nvPicPr>
          <p:cNvPr id="213" name="Google Shape;213;g3be5054b97e_3_2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352" y="191626"/>
            <a:ext cx="1135115" cy="1342882"/>
          </a:xfrm>
          <a:prstGeom prst="rect">
            <a:avLst/>
          </a:prstGeom>
          <a:noFill/>
          <a:ln>
            <a:noFill/>
          </a:ln>
        </p:spPr>
      </p:pic>
      <p:pic>
        <p:nvPicPr>
          <p:cNvPr id="214" name="Google Shape;214;g3be5054b97e_3_22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514231" y="191626"/>
            <a:ext cx="1520112" cy="1342882"/>
          </a:xfrm>
          <a:prstGeom prst="rect">
            <a:avLst/>
          </a:prstGeom>
          <a:noFill/>
          <a:ln>
            <a:noFill/>
          </a:ln>
        </p:spPr>
      </p:pic>
      <p:sp>
        <p:nvSpPr>
          <p:cNvPr id="215" name="Google Shape;215;g3be5054b97e_3_222"/>
          <p:cNvSpPr txBox="1"/>
          <p:nvPr>
            <p:ph idx="12" type="sldNum"/>
          </p:nvPr>
        </p:nvSpPr>
        <p:spPr>
          <a:xfrm>
            <a:off x="11304091" y="6486080"/>
            <a:ext cx="205104" cy="17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38100" rtl="0" algn="l">
              <a:lnSpc>
                <a:spcPct val="103333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16" name="Google Shape;216;g3be5054b97e_3_222"/>
          <p:cNvSpPr txBox="1"/>
          <p:nvPr/>
        </p:nvSpPr>
        <p:spPr>
          <a:xfrm>
            <a:off x="832850" y="1879350"/>
            <a:ext cx="10221600" cy="4556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355600" lvl="0" marL="4572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imes New Roman"/>
              <a:buChar char="•"/>
            </a:pPr>
            <a:r>
              <a:rPr lang="en-US" sz="20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Developed an AI-powered multimodal platform to support engineering students in study and research activities.</a:t>
            </a:r>
            <a:endParaRPr sz="20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55600" lvl="0" marL="4572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imes New Roman"/>
              <a:buChar char="•"/>
            </a:pPr>
            <a:r>
              <a:rPr lang="en-US" sz="20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Integrates documents, research papers, images, notes, and other academic content in one workflow.</a:t>
            </a:r>
            <a:endParaRPr sz="20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55600" lvl="0" marL="4572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imes New Roman"/>
              <a:buChar char="•"/>
            </a:pPr>
            <a:r>
              <a:rPr lang="en-US" sz="20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Uses multimodal processing, knowledge retrieval, RAG, and LLM analysis to generate meaningful insights.</a:t>
            </a:r>
            <a:endParaRPr sz="20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55600" lvl="0" marL="4572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imes New Roman"/>
              <a:buChar char="•"/>
            </a:pPr>
            <a:r>
              <a:rPr lang="en-US" sz="20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Provides personalized notes, explanations, quizzes, research summaries, and research gap insights.</a:t>
            </a:r>
            <a:endParaRPr sz="20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55600" lvl="0" marL="4572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imes New Roman"/>
              <a:buChar char="•"/>
            </a:pPr>
            <a:r>
              <a:rPr lang="en-US" sz="20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The system can help reduce research effort, improve learning efficiency, and provide a unified academic research assistant.</a:t>
            </a:r>
            <a:endParaRPr sz="20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g3be5054b97e_3_230"/>
          <p:cNvSpPr txBox="1"/>
          <p:nvPr>
            <p:ph type="title"/>
          </p:nvPr>
        </p:nvSpPr>
        <p:spPr>
          <a:xfrm>
            <a:off x="2374905" y="250733"/>
            <a:ext cx="7361700" cy="81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315700">
            <a:spAutoFit/>
          </a:bodyPr>
          <a:lstStyle/>
          <a:p>
            <a:pPr indent="0" lvl="0" marL="235458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>
                <a:solidFill>
                  <a:srgbClr val="A64D79"/>
                </a:solidFill>
              </a:rPr>
              <a:t>REFERENCES</a:t>
            </a:r>
            <a:endParaRPr>
              <a:solidFill>
                <a:srgbClr val="A64D79"/>
              </a:solidFill>
            </a:endParaRPr>
          </a:p>
        </p:txBody>
      </p:sp>
      <p:sp>
        <p:nvSpPr>
          <p:cNvPr id="223" name="Google Shape;223;g3be5054b97e_3_230"/>
          <p:cNvSpPr txBox="1"/>
          <p:nvPr/>
        </p:nvSpPr>
        <p:spPr>
          <a:xfrm>
            <a:off x="1253959" y="1503032"/>
            <a:ext cx="123189" cy="22732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62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□</a:t>
            </a:r>
            <a:endParaRPr b="0" i="0" sz="1600" u="none" cap="none" strike="noStrike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pic>
        <p:nvPicPr>
          <p:cNvPr id="224" name="Google Shape;224;g3be5054b97e_3_2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1588" y="404244"/>
            <a:ext cx="1135115" cy="1342882"/>
          </a:xfrm>
          <a:prstGeom prst="rect">
            <a:avLst/>
          </a:prstGeom>
          <a:noFill/>
          <a:ln>
            <a:noFill/>
          </a:ln>
        </p:spPr>
      </p:pic>
      <p:pic>
        <p:nvPicPr>
          <p:cNvPr id="225" name="Google Shape;225;g3be5054b97e_3_23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100297" y="408442"/>
            <a:ext cx="1520112" cy="1342882"/>
          </a:xfrm>
          <a:prstGeom prst="rect">
            <a:avLst/>
          </a:prstGeom>
          <a:noFill/>
          <a:ln>
            <a:noFill/>
          </a:ln>
        </p:spPr>
      </p:pic>
      <p:sp>
        <p:nvSpPr>
          <p:cNvPr id="226" name="Google Shape;226;g3be5054b97e_3_230"/>
          <p:cNvSpPr txBox="1"/>
          <p:nvPr>
            <p:ph idx="12" type="sldNum"/>
          </p:nvPr>
        </p:nvSpPr>
        <p:spPr>
          <a:xfrm>
            <a:off x="11304091" y="6486080"/>
            <a:ext cx="205104" cy="17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38100" rtl="0" algn="l">
              <a:lnSpc>
                <a:spcPct val="103333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7" name="Google Shape;227;g3be5054b97e_3_230"/>
          <p:cNvSpPr txBox="1"/>
          <p:nvPr/>
        </p:nvSpPr>
        <p:spPr>
          <a:xfrm>
            <a:off x="586900" y="1835400"/>
            <a:ext cx="10937700" cy="477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361950" lvl="0" marL="45720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Times New Roman"/>
              <a:buAutoNum type="arabicPeriod"/>
            </a:pPr>
            <a:r>
              <a:rPr lang="en-US" sz="21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Z. Li et al., “Retrieval-Augmented Generation for Educational Application: A Systematic Survey,” Comput. Educ. Artif. Intell., vol. 8, 2025.</a:t>
            </a:r>
            <a:endParaRPr sz="21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61950" lvl="0" marL="45720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Times New Roman"/>
              <a:buAutoNum type="arabicPeriod"/>
            </a:pPr>
            <a:r>
              <a:rPr lang="en-US" sz="21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S. Guizani et al., “A Systematic Literature Review to Implement Large Language Model in Higher Education,” Discover Education, vol. 4, 2025.</a:t>
            </a:r>
            <a:endParaRPr sz="21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61950" lvl="0" marL="45720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Times New Roman"/>
              <a:buAutoNum type="arabicPeriod"/>
            </a:pPr>
            <a:r>
              <a:rPr lang="en-US" sz="21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Y. Qian, “Pedagogical Applications of Generative AI in Higher Education: A Systematic Review of the Field,” TechTrends, vol. 69, pp. 1105–1120, 2025.</a:t>
            </a:r>
            <a:endParaRPr sz="21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61950" lvl="0" marL="45720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Times New Roman"/>
              <a:buAutoNum type="arabicPeriod"/>
            </a:pPr>
            <a:r>
              <a:rPr lang="en-US" sz="21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L. Fan, K. Deng, and F. Liu, “Educational Impacts of Generative Artificial Intelligence on Learning and Performance of Engineering Students in China,” Sci. Rep., vol. 15, 2025.</a:t>
            </a:r>
            <a:endParaRPr sz="21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61950" lvl="0" marL="45720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Times New Roman"/>
              <a:buAutoNum type="arabicPeriod"/>
            </a:pPr>
            <a:r>
              <a:rPr lang="en-US" sz="21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Z. Li et al., “Large Language Models in Education: A Systematic Review of Empirical Applications, Benefits, and Challenges,” Comput. Educ. Artif. Intell., vol. 10, 2026.</a:t>
            </a:r>
            <a:endParaRPr sz="21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2" name="Google Shape;232;g3be5054b97e_3_2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062286" y="393171"/>
            <a:ext cx="1520112" cy="1342882"/>
          </a:xfrm>
          <a:prstGeom prst="rect">
            <a:avLst/>
          </a:prstGeom>
          <a:noFill/>
          <a:ln>
            <a:noFill/>
          </a:ln>
        </p:spPr>
      </p:pic>
      <p:pic>
        <p:nvPicPr>
          <p:cNvPr id="233" name="Google Shape;233;g3be5054b97e_3_24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9600" y="501648"/>
            <a:ext cx="1135115" cy="1342882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g3be5054b97e_3_240"/>
          <p:cNvSpPr txBox="1"/>
          <p:nvPr>
            <p:ph idx="12" type="sldNum"/>
          </p:nvPr>
        </p:nvSpPr>
        <p:spPr>
          <a:xfrm>
            <a:off x="11304091" y="6486080"/>
            <a:ext cx="205104" cy="17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38100" rtl="0" algn="l">
              <a:lnSpc>
                <a:spcPct val="103333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35" name="Google Shape;235;g3be5054b97e_3_240"/>
          <p:cNvSpPr/>
          <p:nvPr/>
        </p:nvSpPr>
        <p:spPr>
          <a:xfrm>
            <a:off x="2476500" y="2828835"/>
            <a:ext cx="7239000" cy="1200329"/>
          </a:xfrm>
          <a:prstGeom prst="rect">
            <a:avLst/>
          </a:prstGeom>
          <a:solidFill>
            <a:srgbClr val="A64D79"/>
          </a:solidFill>
          <a:ln cap="flat" cmpd="sng" w="25400">
            <a:solidFill>
              <a:schemeClr val="dk1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200"/>
              <a:buFont typeface="Arial"/>
              <a:buNone/>
            </a:pPr>
            <a:r>
              <a:rPr b="1" i="0" lang="en-US" sz="72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THANK YOU!</a:t>
            </a:r>
            <a:endParaRPr b="0" i="0" sz="14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2025-11-14T08:39:07Z</dcterms:created>
  <dc:creator>Rohan V</dc:creator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2025-11-14T00:00:00Z</vt:filetime>
  </property>
  <property fmtid="{D5CDD505-2E9C-101B-9397-08002B2CF9AE}" pid="3" name="Creator">
    <vt:lpwstr>Google</vt:lpwstr>
  </property>
  <property fmtid="{D5CDD505-2E9C-101B-9397-08002B2CF9AE}" pid="4" name="LastSaved">
    <vt:filetime>2025-11-14T00:00:00Z</vt:filetime>
  </property>
</Properties>
</file>