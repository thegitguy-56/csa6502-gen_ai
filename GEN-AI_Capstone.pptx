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5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12192000" cy="6858000"/>
  <p:embeddedFontLst>
    <p:embeddedFont>
      <p:font typeface="Helvetica Neue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PxQB9pGFFs+2e4ausla/WxVA6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0750D6-3A62-4C8A-8B76-66FF32D235F1}">
  <a:tblStyle styleId="{6A0750D6-3A62-4C8A-8B76-66FF32D235F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F1F5"/>
          </a:solidFill>
        </a:fill>
      </a:tcStyle>
    </a:wholeTbl>
    <a:band1H>
      <a:tcTxStyle b="off" i="off"/>
      <a:tcStyle>
        <a:tcBdr/>
        <a:fill>
          <a:solidFill>
            <a:srgbClr val="CEE2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EE2EA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8F1F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/>
        <a:fill>
          <a:solidFill>
            <a:srgbClr val="E8F1F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60D0122-9385-417B-9779-1DF5733CE17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86946267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f86946267d_2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3f86946267d_2_0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86946267d_2_1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f86946267d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86946267d_2_2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g3f86946267d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6946267d_2_3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3f86946267d_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86946267d_2_3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3f86946267d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86946267d_2_4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g3f86946267d_2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86946267d_2_5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f86946267d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86946267d_2_6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3f86946267d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86946267d_2_7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g3f86946267d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6946267d_2_8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f86946267d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86946267d_2_9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3f86946267d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9b3160951_0_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3f9b316095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e5054b97e_3_20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g3be5054b97e_3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e5054b97e_3_22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g3be5054b97e_3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e5054b97e_3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be5054b97e_3_23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g3be5054b97e_3_230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e5054b97e_3_24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g3be5054b97e_3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e5054b97e_3_6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3be5054b97e_3_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g3be5054b97e_3_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3be5054b97e_3_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be5054b97e_3_6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-3810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be5054b97e_3_12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be5054b97e_3_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e5054b97e_3_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3be5054b97e_3_12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e5054b97e_3_1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e5054b97e_3_1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3be5054b97e_3_17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e5054b97e_3_21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be5054b97e_3_21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e5054b97e_3_2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3be5054b97e_3_2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be5054b97e_3_21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e5054b97e_3_27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3be5054b97e_3_27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3be5054b97e_3_2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3be5054b97e_3_2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g3be5054b97e_3_27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be5054b97e_3_33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g3be5054b97e_3_3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3be5054b97e_3_33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g3be5054b97e_3_3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be5054b97e_3_3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3be5054b97e_3_33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e5054b97e_3_0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e5054b97e_3_0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g3be5054b97e_3_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g3be5054b97e_3_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g3be5054b97e_3_0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86946267d_2_0"/>
          <p:cNvSpPr txBox="1">
            <a:spLocks noGrp="1"/>
          </p:cNvSpPr>
          <p:nvPr>
            <p:ph type="ctrTitle"/>
          </p:nvPr>
        </p:nvSpPr>
        <p:spPr>
          <a:xfrm>
            <a:off x="618450" y="2176806"/>
            <a:ext cx="109551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633095" lvl="0" indent="0" algn="ctr" rtl="0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SzPts val="4000"/>
              <a:buNone/>
            </a:pPr>
            <a:r>
              <a:rPr lang="en-US" sz="3600"/>
              <a:t>AI Powered Multimodal</a:t>
            </a:r>
            <a:r>
              <a:rPr lang="en-US" sz="3600">
                <a:solidFill>
                  <a:srgbClr val="A64D79"/>
                </a:solidFill>
              </a:rPr>
              <a:t> Research </a:t>
            </a:r>
            <a:r>
              <a:rPr lang="en-US" sz="3600"/>
              <a:t>and</a:t>
            </a:r>
            <a:r>
              <a:rPr lang="en-US" sz="3600">
                <a:solidFill>
                  <a:srgbClr val="A64D79"/>
                </a:solidFill>
              </a:rPr>
              <a:t> Study Analysis </a:t>
            </a:r>
            <a:r>
              <a:rPr lang="en-US" sz="3600"/>
              <a:t>for Engineering Students</a:t>
            </a:r>
            <a:endParaRPr sz="3600"/>
          </a:p>
        </p:txBody>
      </p:sp>
      <p:pic>
        <p:nvPicPr>
          <p:cNvPr id="89" name="Google Shape;89;g3f86946267d_2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f86946267d_2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f86946267d_2_0"/>
          <p:cNvSpPr txBox="1"/>
          <p:nvPr/>
        </p:nvSpPr>
        <p:spPr>
          <a:xfrm>
            <a:off x="3441900" y="335165"/>
            <a:ext cx="5308200" cy="14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SIMATS ENGINEERING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endParaRPr sz="3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8240" marR="5080" lvl="0" indent="-1146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SAVEETHA INSTITUTE OF MEDICAL AND TECHNICAL SCIENCES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g3f86946267d_2_0"/>
          <p:cNvSpPr txBox="1"/>
          <p:nvPr/>
        </p:nvSpPr>
        <p:spPr>
          <a:xfrm>
            <a:off x="8859950" y="4761297"/>
            <a:ext cx="29709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Karthik - 192472136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M.Chaitanya - 192472047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Joanathan - 192472229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Rohan - 192472227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g3f86946267d_2_0"/>
          <p:cNvSpPr txBox="1"/>
          <p:nvPr/>
        </p:nvSpPr>
        <p:spPr>
          <a:xfrm>
            <a:off x="247529" y="5514600"/>
            <a:ext cx="5667000" cy="7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</a:t>
            </a:r>
            <a:r>
              <a:rPr lang="en-US" sz="2000" b="1" i="0" u="none" strike="noStrike" cap="non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CSA6502 - Generative AI and Large Scale Model</a:t>
            </a:r>
            <a:endParaRPr sz="2000" b="0" i="0" u="none" strike="noStrike" cap="none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g3f86946267d_2_0"/>
          <p:cNvSpPr txBox="1"/>
          <p:nvPr/>
        </p:nvSpPr>
        <p:spPr>
          <a:xfrm>
            <a:off x="294575" y="4353300"/>
            <a:ext cx="2970900" cy="11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Nithisha J                                                    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g3f86946267d_2_0"/>
          <p:cNvSpPr txBox="1"/>
          <p:nvPr/>
        </p:nvSpPr>
        <p:spPr>
          <a:xfrm>
            <a:off x="9806450" y="4353300"/>
            <a:ext cx="20244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1" i="0" u="none" strike="noStrike" cap="non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1" i="0" u="none" strike="noStrike" cap="non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86946267d_2_13"/>
          <p:cNvSpPr txBox="1">
            <a:spLocks noGrp="1"/>
          </p:cNvSpPr>
          <p:nvPr>
            <p:ph type="title"/>
          </p:nvPr>
        </p:nvSpPr>
        <p:spPr>
          <a:xfrm>
            <a:off x="1465035" y="232445"/>
            <a:ext cx="83649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A64D79"/>
                </a:solidFill>
              </a:rPr>
              <a:t>ABSTRACT</a:t>
            </a:r>
            <a:endParaRPr>
              <a:solidFill>
                <a:srgbClr val="A64D79"/>
              </a:solidFill>
            </a:endParaRPr>
          </a:p>
        </p:txBody>
      </p:sp>
      <p:pic>
        <p:nvPicPr>
          <p:cNvPr id="101" name="Google Shape;101;g3f86946267d_2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f86946267d_2_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f86946267d_2_13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4" name="Google Shape;104;g3f86946267d_2_13"/>
          <p:cNvSpPr/>
          <p:nvPr/>
        </p:nvSpPr>
        <p:spPr>
          <a:xfrm>
            <a:off x="1036700" y="1581250"/>
            <a:ext cx="9974100" cy="46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44500" marR="0" lvl="0" indent="-3556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AI-powered platform that helps engineering students understand and analyze academic and research materials.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marR="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Accepts multiple formats such as PDFs, research papers, images, notes, and documents.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marR="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AI to retrieve relevant information and analyze content from multiple sources.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marR="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summaries, explanations, comparisons, quizzes, and research insights.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marR="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students reduce research time and improve their learning process.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86946267d_2_22"/>
          <p:cNvSpPr txBox="1">
            <a:spLocks noGrp="1"/>
          </p:cNvSpPr>
          <p:nvPr>
            <p:ph type="title"/>
          </p:nvPr>
        </p:nvSpPr>
        <p:spPr>
          <a:xfrm>
            <a:off x="1465035" y="232445"/>
            <a:ext cx="83649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A64D79"/>
                </a:solidFill>
              </a:rPr>
              <a:t>INTRODUCTION</a:t>
            </a:r>
            <a:endParaRPr>
              <a:solidFill>
                <a:srgbClr val="A64D79"/>
              </a:solidFill>
            </a:endParaRPr>
          </a:p>
        </p:txBody>
      </p:sp>
      <p:pic>
        <p:nvPicPr>
          <p:cNvPr id="110" name="Google Shape;110;g3f86946267d_2_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f86946267d_2_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f86946267d_2_22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3" name="Google Shape;113;g3f86946267d_2_22"/>
          <p:cNvSpPr/>
          <p:nvPr/>
        </p:nvSpPr>
        <p:spPr>
          <a:xfrm>
            <a:off x="329925" y="1753075"/>
            <a:ext cx="7317300" cy="46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44500" marR="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students work with large amounts of academic and research material.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is often spread across different documents and formats.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methods make it difficult to quickly find and connect relevant information.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system uses multimodal AI to understand, retrieve, and analyze this information.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provides personalized study and research support in one platform.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Google Shape;114;g3f86946267d_2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9625" y="1668620"/>
            <a:ext cx="4239975" cy="423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86946267d_2_31"/>
          <p:cNvSpPr txBox="1">
            <a:spLocks noGrp="1"/>
          </p:cNvSpPr>
          <p:nvPr>
            <p:ph type="title"/>
          </p:nvPr>
        </p:nvSpPr>
        <p:spPr>
          <a:xfrm>
            <a:off x="1372538" y="232445"/>
            <a:ext cx="83649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>
              <a:solidFill>
                <a:srgbClr val="A64D7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g3f86946267d_2_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f86946267d_2_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f86946267d_2_31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10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3" name="Google Shape;123;g3f86946267d_2_31"/>
          <p:cNvGraphicFramePr/>
          <p:nvPr/>
        </p:nvGraphicFramePr>
        <p:xfrm>
          <a:off x="924910" y="1745064"/>
          <a:ext cx="10353625" cy="4693950"/>
        </p:xfrm>
        <a:graphic>
          <a:graphicData uri="http://schemas.openxmlformats.org/drawingml/2006/table">
            <a:tbl>
              <a:tblPr>
                <a:noFill/>
                <a:tableStyleId>{6A0750D6-3A62-4C8A-8B76-66FF32D235F1}</a:tableStyleId>
              </a:tblPr>
              <a:tblGrid>
                <a:gridCol w="35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Explanation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Multimodal Content Processing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 academic materials from different formats such as text, images, and documents.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Intelligent Knowledge Retrieval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Retrieve relevant information from the collected study and research materials.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AI-Based Analysis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Summarize, compare, explain, and identify important research insights.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Personalized Learning Support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Generate notes, quizzes, explanations, and topic recommendations.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 Research Efficiency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Reduce the time required to study and analyze large amounts of information.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64D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86946267d_2_39"/>
          <p:cNvSpPr txBox="1">
            <a:spLocks noGrp="1"/>
          </p:cNvSpPr>
          <p:nvPr>
            <p:ph type="title"/>
          </p:nvPr>
        </p:nvSpPr>
        <p:spPr>
          <a:xfrm>
            <a:off x="2347473" y="232445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A64D79"/>
                </a:solidFill>
              </a:rPr>
              <a:t>LITERATURE SURVEY</a:t>
            </a:r>
            <a:endParaRPr>
              <a:solidFill>
                <a:srgbClr val="A64D79"/>
              </a:solidFill>
            </a:endParaRPr>
          </a:p>
        </p:txBody>
      </p:sp>
      <p:pic>
        <p:nvPicPr>
          <p:cNvPr id="129" name="Google Shape;129;g3f86946267d_2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96523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f86946267d_2_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23206"/>
            <a:ext cx="1520112" cy="13428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Google Shape;131;g3f86946267d_2_39"/>
          <p:cNvGraphicFramePr/>
          <p:nvPr/>
        </p:nvGraphicFramePr>
        <p:xfrm>
          <a:off x="238054" y="1615483"/>
          <a:ext cx="11706225" cy="4751843"/>
        </p:xfrm>
        <a:graphic>
          <a:graphicData uri="http://schemas.openxmlformats.org/drawingml/2006/table">
            <a:tbl>
              <a:tblPr>
                <a:noFill/>
                <a:tableStyleId>{760D0122-9385-417B-9779-1DF5733CE175}</a:tableStyleId>
              </a:tblPr>
              <a:tblGrid>
                <a:gridCol w="73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3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 (Year)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5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Z. Li </a:t>
                      </a:r>
                      <a:r>
                        <a:rPr lang="en-US" sz="15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 al.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(2025)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Retrieval-Augmented Generation for Educational Application: A Systematic Survey</a:t>
                      </a:r>
                      <a:endParaRPr sz="1500" i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Reviewed RAG methods for educational applications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Hallucination, retrieval quality, limited multimodality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5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Guizani </a:t>
                      </a:r>
                      <a:r>
                        <a:rPr lang="en-US" sz="15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 al.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(2025)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Systematic Literature Review to Implement Large Language Model in Higher Education</a:t>
                      </a:r>
                      <a:endParaRPr sz="1500" i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Reviewed LLM applications, issues, and solutions in higher education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Privacy, reliability, ethics, implementation challenges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5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Y. Qian (2025)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Pedagogical Applications of Generative AI in Higher Education: A Systematic Review of the Field</a:t>
                      </a:r>
                      <a:endParaRPr sz="1500" i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Reviewed GenAI applications in higher education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 for better evaluation and responsible use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5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L. Fan </a:t>
                      </a:r>
                      <a:r>
                        <a:rPr lang="en-US" sz="15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 al.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(2025)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Educational Impacts of Generative Artificial Intelligence on Learning and Performance of Engineering Students in China</a:t>
                      </a:r>
                      <a:endParaRPr sz="1500" i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Surveyed 148 engineering students on GenAI use and learning impact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sample and regional focus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5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Z. Li </a:t>
                      </a:r>
                      <a:r>
                        <a:rPr lang="en-US" sz="15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 al.</a:t>
                      </a: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(2026)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 Language Models in Education: A Systematic Review of Empirical Applications, Benefits, and Challenges</a:t>
                      </a:r>
                      <a:endParaRPr sz="1500" i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Reviewed 88 empirical LLM studies in education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Over-reliance, privacy, fairness, and technical reliability</a:t>
                      </a:r>
                      <a:endParaRPr sz="1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86946267d_2_46"/>
          <p:cNvSpPr txBox="1">
            <a:spLocks noGrp="1"/>
          </p:cNvSpPr>
          <p:nvPr>
            <p:ph type="title"/>
          </p:nvPr>
        </p:nvSpPr>
        <p:spPr>
          <a:xfrm>
            <a:off x="2347473" y="232445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A64D79"/>
                </a:solidFill>
              </a:rPr>
              <a:t>PROBLEM STATEMENT</a:t>
            </a:r>
            <a:endParaRPr>
              <a:solidFill>
                <a:srgbClr val="A64D79"/>
              </a:solidFill>
            </a:endParaRPr>
          </a:p>
        </p:txBody>
      </p:sp>
      <p:pic>
        <p:nvPicPr>
          <p:cNvPr id="137" name="Google Shape;137;g3f86946267d_2_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f86946267d_2_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f86946267d_2_46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40" name="Google Shape;140;g3f86946267d_2_46"/>
          <p:cNvSpPr/>
          <p:nvPr/>
        </p:nvSpPr>
        <p:spPr>
          <a:xfrm flipH="1">
            <a:off x="287781" y="1938625"/>
            <a:ext cx="6897600" cy="41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students handle large amounts of study and research material.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information is scattered across different formats and documents.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Finding, comparing, and understanding relevant information is time-consuming.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tools often focus on a single format or provide only basic summarization.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need one system that can analyze multiple sources and provide useful study and research support.</a:t>
            </a: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g3f86946267d_2_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7781" y="1668620"/>
            <a:ext cx="4646772" cy="4646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f86946267d_2_55"/>
          <p:cNvPicPr preferRelativeResize="0"/>
          <p:nvPr/>
        </p:nvPicPr>
        <p:blipFill rotWithShape="1">
          <a:blip r:embed="rId3">
            <a:alphaModFix/>
          </a:blip>
          <a:srcRect b="14141"/>
          <a:stretch/>
        </p:blipFill>
        <p:spPr>
          <a:xfrm>
            <a:off x="410675" y="1272925"/>
            <a:ext cx="11156349" cy="539094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f86946267d_2_55"/>
          <p:cNvSpPr txBox="1">
            <a:spLocks noGrp="1"/>
          </p:cNvSpPr>
          <p:nvPr>
            <p:ph type="title"/>
          </p:nvPr>
        </p:nvSpPr>
        <p:spPr>
          <a:xfrm>
            <a:off x="1410171" y="377716"/>
            <a:ext cx="89469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00" rIns="0" bIns="0" anchor="t" anchorCtr="0">
            <a:spAutoFit/>
          </a:bodyPr>
          <a:lstStyle/>
          <a:p>
            <a:pPr marL="2074545" marR="5080" lvl="0" indent="-1661160" algn="ctr" rtl="0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A64D79"/>
                </a:solidFill>
              </a:rPr>
              <a:t>SYSTEM ARCHITECTURE</a:t>
            </a:r>
            <a:endParaRPr>
              <a:solidFill>
                <a:srgbClr val="A64D79"/>
              </a:solidFill>
            </a:endParaRPr>
          </a:p>
        </p:txBody>
      </p:sp>
      <p:pic>
        <p:nvPicPr>
          <p:cNvPr id="148" name="Google Shape;148;g3f86946267d_2_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f86946267d_2_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f86946267d_2_55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g3f86946267d_2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f86946267d_2_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f86946267d_2_63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58" name="Google Shape;158;g3f86946267d_2_63"/>
          <p:cNvSpPr txBox="1"/>
          <p:nvPr/>
        </p:nvSpPr>
        <p:spPr>
          <a:xfrm>
            <a:off x="1600200" y="304800"/>
            <a:ext cx="8763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– 1</a:t>
            </a:r>
            <a:b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Input &amp; Document Processing</a:t>
            </a:r>
            <a:endParaRPr sz="1400" b="0" i="0" u="none" strike="noStrike" cap="none">
              <a:solidFill>
                <a:srgbClr val="A64D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f86946267d_2_63"/>
          <p:cNvSpPr txBox="1"/>
          <p:nvPr/>
        </p:nvSpPr>
        <p:spPr>
          <a:xfrm>
            <a:off x="219241" y="1854669"/>
            <a:ext cx="6960900" cy="45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collect and process academic and research materials from different formats.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Accepts PDFs, papers, images, notes, and documents.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Extracts text, tables, figures, and equations.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Cleans and organizes the extracted information.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processed content for further analysis.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structured collection of multimodal academic content ready for retrieval and analysis.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g3f86946267d_2_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2541" y="1686908"/>
            <a:ext cx="4646772" cy="4646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f86946267d_2_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f86946267d_2_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f86946267d_2_72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68" name="Google Shape;168;g3f86946267d_2_72"/>
          <p:cNvSpPr txBox="1"/>
          <p:nvPr/>
        </p:nvSpPr>
        <p:spPr>
          <a:xfrm>
            <a:off x="1600200" y="304800"/>
            <a:ext cx="87630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– 2</a:t>
            </a:r>
            <a:b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Knowledge &amp; Retrieval</a:t>
            </a:r>
            <a:endParaRPr sz="3200" b="1" i="0" u="none" strike="noStrike" cap="none">
              <a:solidFill>
                <a:srgbClr val="A64D7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g3f86946267d_2_72"/>
          <p:cNvSpPr txBox="1"/>
          <p:nvPr/>
        </p:nvSpPr>
        <p:spPr>
          <a:xfrm>
            <a:off x="252662" y="1972506"/>
            <a:ext cx="6960900" cy="45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a searchable knowledge base from the processed materials.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representations of the collected content.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Retrieves relevant information based on user queries.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Connects related information across multiple sources.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relevant context to the AI.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and contextual information is retrieved for accurate AI analysis.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" name="Google Shape;170;g3f86946267d_2_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5962" y="1686908"/>
            <a:ext cx="4646772" cy="4646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f86946267d_2_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f86946267d_2_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f86946267d_2_81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78" name="Google Shape;178;g3f86946267d_2_81"/>
          <p:cNvSpPr txBox="1"/>
          <p:nvPr/>
        </p:nvSpPr>
        <p:spPr>
          <a:xfrm>
            <a:off x="1600200" y="304800"/>
            <a:ext cx="87630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– 3</a:t>
            </a:r>
            <a:b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&amp; Study Analysis</a:t>
            </a:r>
            <a:endParaRPr sz="1400" b="0" i="0" u="none" strike="noStrike" cap="none">
              <a:solidFill>
                <a:srgbClr val="A64D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f86946267d_2_81"/>
          <p:cNvSpPr txBox="1"/>
          <p:nvPr/>
        </p:nvSpPr>
        <p:spPr>
          <a:xfrm>
            <a:off x="291200" y="1818597"/>
            <a:ext cx="6603300" cy="45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analyze retrieved information and generate meaningful academic insights.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Summarizes research papers and study materials.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Compares concepts and multiple research papers.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Identifies findings, methodologies, and research gaps.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Answers questions using the retrieved sources.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receive clear, source-based analysis of their study and research materials.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g3f86946267d_2_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6976" y="1686908"/>
            <a:ext cx="4646772" cy="4646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g3f86946267d_2_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f86946267d_2_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f86946267d_2_90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88" name="Google Shape;188;g3f86946267d_2_90"/>
          <p:cNvSpPr txBox="1"/>
          <p:nvPr/>
        </p:nvSpPr>
        <p:spPr>
          <a:xfrm>
            <a:off x="1600200" y="304800"/>
            <a:ext cx="87630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– 4</a:t>
            </a:r>
            <a:b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Learning &amp; Research Support</a:t>
            </a:r>
            <a:endParaRPr sz="1400" b="0" i="0" u="none" strike="noStrike" cap="none">
              <a:solidFill>
                <a:srgbClr val="A64D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f86946267d_2_90"/>
          <p:cNvSpPr txBox="1"/>
          <p:nvPr/>
        </p:nvSpPr>
        <p:spPr>
          <a:xfrm>
            <a:off x="348208" y="1785104"/>
            <a:ext cx="6857400" cy="45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convert AI analysis into useful learning and research outputs.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concise study notes and explanations.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quizzes and practice questions.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Recommends important topics for revision.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structured research summaries and reports.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i="0" u="none" strike="noStrike" cap="none">
                <a:solidFill>
                  <a:srgbClr val="A64D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receive personalized resources that support both learning and research.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" name="Google Shape;190;g3f86946267d_2_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7872" y="1686908"/>
            <a:ext cx="4646772" cy="4646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9b3160951_0_1"/>
          <p:cNvSpPr txBox="1">
            <a:spLocks noGrp="1"/>
          </p:cNvSpPr>
          <p:nvPr>
            <p:ph type="title"/>
          </p:nvPr>
        </p:nvSpPr>
        <p:spPr>
          <a:xfrm>
            <a:off x="2286000" y="304800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2984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A64D79"/>
                </a:solidFill>
              </a:rPr>
              <a:t>DASHBOARD</a:t>
            </a:r>
            <a:endParaRPr>
              <a:solidFill>
                <a:srgbClr val="A64D79"/>
              </a:solidFill>
            </a:endParaRPr>
          </a:p>
        </p:txBody>
      </p:sp>
      <p:pic>
        <p:nvPicPr>
          <p:cNvPr id="196" name="Google Shape;196;g3f9b3160951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f9b3160951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f9b3160951_0_1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D65ABD-8388-DE2D-A463-AD9302AA3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61" y="1777577"/>
            <a:ext cx="5153925" cy="46650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A47B47-A9FC-602E-A3BC-0904ED29EB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868" y="1777578"/>
            <a:ext cx="4762775" cy="46650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e5054b97e_3_206"/>
          <p:cNvSpPr txBox="1">
            <a:spLocks noGrp="1"/>
          </p:cNvSpPr>
          <p:nvPr>
            <p:ph type="title"/>
          </p:nvPr>
        </p:nvSpPr>
        <p:spPr>
          <a:xfrm>
            <a:off x="2286000" y="304800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2984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A64D79"/>
                </a:solidFill>
              </a:rPr>
              <a:t>RESULT &amp; DISCUSSION</a:t>
            </a:r>
            <a:endParaRPr>
              <a:solidFill>
                <a:srgbClr val="A64D79"/>
              </a:solidFill>
            </a:endParaRPr>
          </a:p>
        </p:txBody>
      </p:sp>
      <p:pic>
        <p:nvPicPr>
          <p:cNvPr id="204" name="Google Shape;204;g3be5054b97e_3_2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be5054b97e_3_20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be5054b97e_3_206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07" name="Google Shape;207;g3be5054b97e_3_206"/>
          <p:cNvSpPr/>
          <p:nvPr/>
        </p:nvSpPr>
        <p:spPr>
          <a:xfrm>
            <a:off x="789175" y="1795300"/>
            <a:ext cx="10195200" cy="4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combines PDFs, research papers, images, notes, and documents into one analysis workflow.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Retrieves relevant information and provides context-aware AI responses using multimodal processing and RAG.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useful outputs including summaries, explanations, paper comparisons, and research gap insights.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personalized learning through study notes, quizzes, important topics, and research summaries.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unified platform that can reduce research time and improve the overall study experience for engineering students.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e5054b97e_3_222"/>
          <p:cNvSpPr txBox="1">
            <a:spLocks noGrp="1"/>
          </p:cNvSpPr>
          <p:nvPr>
            <p:ph type="title"/>
          </p:nvPr>
        </p:nvSpPr>
        <p:spPr>
          <a:xfrm>
            <a:off x="2286000" y="304800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2984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A64D79"/>
                </a:solidFill>
              </a:rPr>
              <a:t>CONCLUSION</a:t>
            </a:r>
            <a:endParaRPr>
              <a:solidFill>
                <a:srgbClr val="A64D79"/>
              </a:solidFill>
            </a:endParaRPr>
          </a:p>
        </p:txBody>
      </p:sp>
      <p:pic>
        <p:nvPicPr>
          <p:cNvPr id="213" name="Google Shape;213;g3be5054b97e_3_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be5054b97e_3_2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be5054b97e_3_222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16" name="Google Shape;216;g3be5054b97e_3_222"/>
          <p:cNvSpPr txBox="1"/>
          <p:nvPr/>
        </p:nvSpPr>
        <p:spPr>
          <a:xfrm>
            <a:off x="832850" y="1879350"/>
            <a:ext cx="10221600" cy="45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an AI-powered multimodal platform to support engineering students in study and research activities.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Integrates documents, research papers, images, notes, and other academic content in one workflow.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multimodal processing, knowledge retrieval, RAG, and LLM analysis to generate meaningful insights.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personalized notes, explanations, quizzes, research summaries, and research gap insights.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can help reduce research effort, improve learning efficiency, and provide a unified academic research assistant.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e5054b97e_3_230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23545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A64D79"/>
                </a:solidFill>
              </a:rPr>
              <a:t>REFERENCES</a:t>
            </a:r>
            <a:endParaRPr>
              <a:solidFill>
                <a:srgbClr val="A64D79"/>
              </a:solidFill>
            </a:endParaRPr>
          </a:p>
        </p:txBody>
      </p:sp>
      <p:sp>
        <p:nvSpPr>
          <p:cNvPr id="223" name="Google Shape;223;g3be5054b97e_3_230"/>
          <p:cNvSpPr txBox="1"/>
          <p:nvPr/>
        </p:nvSpPr>
        <p:spPr>
          <a:xfrm>
            <a:off x="1253959" y="1503032"/>
            <a:ext cx="123189" cy="227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6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□</a:t>
            </a:r>
            <a:endParaRPr sz="16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4" name="Google Shape;224;g3be5054b97e_3_2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88" y="404244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be5054b97e_3_2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00297" y="408442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be5054b97e_3_230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27" name="Google Shape;227;g3be5054b97e_3_230"/>
          <p:cNvSpPr txBox="1"/>
          <p:nvPr/>
        </p:nvSpPr>
        <p:spPr>
          <a:xfrm>
            <a:off x="586900" y="1835400"/>
            <a:ext cx="10937700" cy="47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AutoNum type="arabicPeriod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Z. Li et al., “Retrieval-Augmented Generation for Educational Application: A Systematic Survey,” Comput. Educ. Artif. Intell., vol. 8, 2025.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AutoNum type="arabicPeriod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Guizani et al., “A Systematic Literature Review to Implement Large Language Model in Higher Education,” Discover Education, vol. 4, 2025.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AutoNum type="arabicPeriod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Y. Qian, “Pedagogical Applications of Generative AI in Higher Education: A Systematic Review of the Field,” TechTrends, vol. 69, pp. 1105–1120, 2025.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AutoNum type="arabicPeriod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L. Fan, K. Deng, and F. Liu, “Educational Impacts of Generative Artificial Intelligence on Learning and Performance of Engineering Students in China,” Sci. Rep., vol. 15, 2025.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AutoNum type="arabicPeriod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Z. Li et al., “Large Language Models in Education: A Systematic Review of Empirical Applications, Benefits, and Challenges,” Comput. Educ. Artif. Intell., vol. 10, 2026.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g3be5054b97e_3_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62286" y="393171"/>
            <a:ext cx="1520112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be5054b97e_3_2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501648"/>
            <a:ext cx="1135115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be5054b97e_3_240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35" name="Google Shape;235;g3be5054b97e_3_240"/>
          <p:cNvSpPr/>
          <p:nvPr/>
        </p:nvSpPr>
        <p:spPr>
          <a:xfrm>
            <a:off x="2476500" y="2828835"/>
            <a:ext cx="7239000" cy="1200329"/>
          </a:xfrm>
          <a:prstGeom prst="rect">
            <a:avLst/>
          </a:prstGeom>
          <a:solidFill>
            <a:srgbClr val="A64D79"/>
          </a:solidFill>
          <a:ln w="254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1179</Words>
  <Application>Microsoft Office PowerPoint</Application>
  <PresentationFormat>Widescreen</PresentationFormat>
  <Paragraphs>144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Helvetica Neue</vt:lpstr>
      <vt:lpstr>Calibri</vt:lpstr>
      <vt:lpstr>Times New Roman</vt:lpstr>
      <vt:lpstr>Arial</vt:lpstr>
      <vt:lpstr>Office Theme</vt:lpstr>
      <vt:lpstr>Office Theme</vt:lpstr>
      <vt:lpstr>AI Powered Multimodal Research and Study Analysis for Engineering Students</vt:lpstr>
      <vt:lpstr>ABSTRACT</vt:lpstr>
      <vt:lpstr>INTRODUCTION</vt:lpstr>
      <vt:lpstr>OBJECTIVES</vt:lpstr>
      <vt:lpstr>LITERATURE SURVEY</vt:lpstr>
      <vt:lpstr>PROBLEM STATEMENT</vt:lpstr>
      <vt:lpstr>SYSTEM ARCHITECTURE</vt:lpstr>
      <vt:lpstr>PowerPoint Presentation</vt:lpstr>
      <vt:lpstr>PowerPoint Presentation</vt:lpstr>
      <vt:lpstr>PowerPoint Presentation</vt:lpstr>
      <vt:lpstr>PowerPoint Presentation</vt:lpstr>
      <vt:lpstr>DASHBOARD</vt:lpstr>
      <vt:lpstr>RESULT &amp; DISCUSSION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Rohan V</dc:creator>
  <cp:lastModifiedBy>Rohan V</cp:lastModifiedBy>
  <cp:revision>1</cp:revision>
  <dcterms:created xsi:type="dcterms:W3CDTF">2025-11-14T08:39:07Z</dcterms:created>
  <dcterms:modified xsi:type="dcterms:W3CDTF">2026-09-03T10:19:02Z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2025-11-14T00:00:00Z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2025-11-14T00:00:00Z</vt:filetime>
  </property>
</Properties>
</file>